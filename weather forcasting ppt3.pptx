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1" r:id="rId3"/>
    <p:sldId id="262" r:id="rId4"/>
    <p:sldId id="263" r:id="rId5"/>
    <p:sldId id="264" r:id="rId6"/>
    <p:sldId id="27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A36"/>
    <a:srgbClr val="930B0B"/>
    <a:srgbClr val="ED1B1D"/>
    <a:srgbClr val="1E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900" y="-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9B59B-5776-4336-B2FB-BB8E3CD3CD1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1FEC3-FDC7-428C-A1EC-CA407CBE7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5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11FEC3-FDC7-428C-A1EC-CA407CBE7C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14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11FEC3-FDC7-428C-A1EC-CA407CBE7C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19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11FEC3-FDC7-428C-A1EC-CA407CBE7C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17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BFC34-A015-444C-AD7E-A6F4D3C2CD3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7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0E86-CCF9-453B-9228-2C798E3CFB55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5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8D8D-F788-485E-BBD2-B173EBF8A54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4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731E-4D89-4BA0-8438-C97E4835AB74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4C50F-1676-4300-B4A8-88B3E67E1817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90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E5E6-FF2D-4EB0-A197-A90FB9BDE4FB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0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4278-3BD6-46B1-9241-F5B65ED56BF8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6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3F2-02BB-45D2-99BF-0912E78013DE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1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F0788-9911-4F2D-A499-4749DF8BA007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6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97C4-C9C7-4D4B-8ED1-6143C3CDD6E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0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563C0-1088-407F-AC4A-D5C9769B792E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6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0" y="6095844"/>
            <a:ext cx="12192115" cy="762361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08847" tIns="56600" rIns="108847" bIns="56600" anchor="ctr">
            <a:noAutofit/>
          </a:bodyPr>
          <a:lstStyle/>
          <a:p>
            <a: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endParaRPr lang="en-IN" sz="2177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0667339" y="4788379"/>
            <a:ext cx="1086762" cy="1303111"/>
            <a:chOff x="8820000" y="3959280"/>
            <a:chExt cx="898560" cy="1077480"/>
          </a:xfrm>
        </p:grpSpPr>
        <p:sp>
          <p:nvSpPr>
            <p:cNvPr id="113" name="Rectangle 112"/>
            <p:cNvSpPr/>
            <p:nvPr/>
          </p:nvSpPr>
          <p:spPr>
            <a:xfrm>
              <a:off x="9180360" y="4140000"/>
              <a:ext cx="177840" cy="89676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8820000" y="4499640"/>
              <a:ext cx="898560" cy="26784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8910720" y="4318920"/>
              <a:ext cx="718920" cy="26784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8999640" y="4140000"/>
              <a:ext cx="538200" cy="26784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9090000" y="3959280"/>
              <a:ext cx="358920" cy="26784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9578835" y="4897661"/>
            <a:ext cx="869932" cy="1196006"/>
            <a:chOff x="7920000" y="4049640"/>
            <a:chExt cx="719280" cy="988920"/>
          </a:xfrm>
        </p:grpSpPr>
        <p:sp>
          <p:nvSpPr>
            <p:cNvPr id="119" name="Rectangle 118"/>
            <p:cNvSpPr/>
            <p:nvPr/>
          </p:nvSpPr>
          <p:spPr>
            <a:xfrm>
              <a:off x="8190000" y="4140360"/>
              <a:ext cx="177840" cy="8982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7920000" y="4410000"/>
              <a:ext cx="719280" cy="2682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8010360" y="4230720"/>
              <a:ext cx="538200" cy="2682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8099280" y="4049640"/>
              <a:ext cx="358920" cy="2682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10450509" y="4461839"/>
            <a:ext cx="434095" cy="324363"/>
            <a:chOff x="8640720" y="3689280"/>
            <a:chExt cx="358920" cy="268200"/>
          </a:xfrm>
        </p:grpSpPr>
        <p:sp>
          <p:nvSpPr>
            <p:cNvPr id="124" name="Freeform 123"/>
            <p:cNvSpPr/>
            <p:nvPr/>
          </p:nvSpPr>
          <p:spPr>
            <a:xfrm>
              <a:off x="8783640" y="3690360"/>
              <a:ext cx="98280" cy="155880"/>
            </a:xfrm>
            <a:custGeom>
              <a:avLst/>
              <a:gdLst/>
              <a:ahLst/>
              <a:cxnLst/>
              <a:rect l="l" t="t" r="r" b="b"/>
              <a:pathLst>
                <a:path w="277" h="447">
                  <a:moveTo>
                    <a:pt x="214" y="151"/>
                  </a:moveTo>
                  <a:cubicBezTo>
                    <a:pt x="171" y="70"/>
                    <a:pt x="79" y="0"/>
                    <a:pt x="41" y="12"/>
                  </a:cubicBezTo>
                  <a:cubicBezTo>
                    <a:pt x="13" y="25"/>
                    <a:pt x="45" y="79"/>
                    <a:pt x="71" y="108"/>
                  </a:cubicBezTo>
                  <a:cubicBezTo>
                    <a:pt x="74" y="110"/>
                    <a:pt x="72" y="114"/>
                    <a:pt x="68" y="114"/>
                  </a:cubicBezTo>
                  <a:cubicBezTo>
                    <a:pt x="56" y="111"/>
                    <a:pt x="42" y="111"/>
                    <a:pt x="36" y="118"/>
                  </a:cubicBezTo>
                  <a:cubicBezTo>
                    <a:pt x="22" y="135"/>
                    <a:pt x="42" y="159"/>
                    <a:pt x="59" y="175"/>
                  </a:cubicBezTo>
                  <a:cubicBezTo>
                    <a:pt x="62" y="177"/>
                    <a:pt x="60" y="182"/>
                    <a:pt x="56" y="181"/>
                  </a:cubicBezTo>
                  <a:cubicBezTo>
                    <a:pt x="41" y="178"/>
                    <a:pt x="26" y="178"/>
                    <a:pt x="21" y="184"/>
                  </a:cubicBezTo>
                  <a:cubicBezTo>
                    <a:pt x="0" y="209"/>
                    <a:pt x="31" y="282"/>
                    <a:pt x="49" y="309"/>
                  </a:cubicBezTo>
                  <a:cubicBezTo>
                    <a:pt x="71" y="341"/>
                    <a:pt x="94" y="373"/>
                    <a:pt x="123" y="398"/>
                  </a:cubicBezTo>
                  <a:cubicBezTo>
                    <a:pt x="153" y="424"/>
                    <a:pt x="190" y="443"/>
                    <a:pt x="229" y="446"/>
                  </a:cubicBezTo>
                  <a:cubicBezTo>
                    <a:pt x="231" y="446"/>
                    <a:pt x="233" y="446"/>
                    <a:pt x="234" y="446"/>
                  </a:cubicBezTo>
                  <a:cubicBezTo>
                    <a:pt x="236" y="445"/>
                    <a:pt x="237" y="442"/>
                    <a:pt x="238" y="440"/>
                  </a:cubicBezTo>
                  <a:cubicBezTo>
                    <a:pt x="245" y="422"/>
                    <a:pt x="247" y="415"/>
                    <a:pt x="250" y="400"/>
                  </a:cubicBezTo>
                  <a:cubicBezTo>
                    <a:pt x="253" y="339"/>
                    <a:pt x="276" y="270"/>
                    <a:pt x="214" y="151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8640720" y="3689280"/>
              <a:ext cx="325440" cy="268200"/>
            </a:xfrm>
            <a:custGeom>
              <a:avLst/>
              <a:gdLst/>
              <a:ahLst/>
              <a:cxnLst/>
              <a:rect l="l" t="t" r="r" b="b"/>
              <a:pathLst>
                <a:path w="909" h="764">
                  <a:moveTo>
                    <a:pt x="752" y="298"/>
                  </a:moveTo>
                  <a:cubicBezTo>
                    <a:pt x="700" y="306"/>
                    <a:pt x="647" y="355"/>
                    <a:pt x="620" y="399"/>
                  </a:cubicBezTo>
                  <a:cubicBezTo>
                    <a:pt x="619" y="402"/>
                    <a:pt x="616" y="405"/>
                    <a:pt x="613" y="406"/>
                  </a:cubicBezTo>
                  <a:cubicBezTo>
                    <a:pt x="609" y="406"/>
                    <a:pt x="606" y="403"/>
                    <a:pt x="603" y="401"/>
                  </a:cubicBezTo>
                  <a:cubicBezTo>
                    <a:pt x="575" y="375"/>
                    <a:pt x="538" y="342"/>
                    <a:pt x="492" y="285"/>
                  </a:cubicBezTo>
                  <a:cubicBezTo>
                    <a:pt x="472" y="260"/>
                    <a:pt x="373" y="141"/>
                    <a:pt x="276" y="73"/>
                  </a:cubicBezTo>
                  <a:cubicBezTo>
                    <a:pt x="192" y="15"/>
                    <a:pt x="86" y="0"/>
                    <a:pt x="50" y="24"/>
                  </a:cubicBezTo>
                  <a:cubicBezTo>
                    <a:pt x="33" y="35"/>
                    <a:pt x="30" y="60"/>
                    <a:pt x="37" y="79"/>
                  </a:cubicBezTo>
                  <a:cubicBezTo>
                    <a:pt x="45" y="98"/>
                    <a:pt x="71" y="120"/>
                    <a:pt x="91" y="129"/>
                  </a:cubicBezTo>
                  <a:cubicBezTo>
                    <a:pt x="66" y="126"/>
                    <a:pt x="34" y="146"/>
                    <a:pt x="34" y="170"/>
                  </a:cubicBezTo>
                  <a:cubicBezTo>
                    <a:pt x="34" y="212"/>
                    <a:pt x="109" y="258"/>
                    <a:pt x="133" y="265"/>
                  </a:cubicBezTo>
                  <a:cubicBezTo>
                    <a:pt x="112" y="266"/>
                    <a:pt x="95" y="290"/>
                    <a:pt x="100" y="310"/>
                  </a:cubicBezTo>
                  <a:cubicBezTo>
                    <a:pt x="109" y="349"/>
                    <a:pt x="181" y="367"/>
                    <a:pt x="203" y="370"/>
                  </a:cubicBezTo>
                  <a:cubicBezTo>
                    <a:pt x="183" y="374"/>
                    <a:pt x="172" y="399"/>
                    <a:pt x="179" y="418"/>
                  </a:cubicBezTo>
                  <a:cubicBezTo>
                    <a:pt x="190" y="448"/>
                    <a:pt x="262" y="467"/>
                    <a:pt x="282" y="471"/>
                  </a:cubicBezTo>
                  <a:cubicBezTo>
                    <a:pt x="264" y="487"/>
                    <a:pt x="271" y="513"/>
                    <a:pt x="290" y="527"/>
                  </a:cubicBezTo>
                  <a:cubicBezTo>
                    <a:pt x="306" y="540"/>
                    <a:pt x="328" y="548"/>
                    <a:pt x="349" y="551"/>
                  </a:cubicBezTo>
                  <a:cubicBezTo>
                    <a:pt x="295" y="545"/>
                    <a:pt x="232" y="537"/>
                    <a:pt x="179" y="536"/>
                  </a:cubicBezTo>
                  <a:cubicBezTo>
                    <a:pt x="127" y="535"/>
                    <a:pt x="48" y="552"/>
                    <a:pt x="0" y="595"/>
                  </a:cubicBezTo>
                  <a:cubicBezTo>
                    <a:pt x="69" y="623"/>
                    <a:pt x="149" y="682"/>
                    <a:pt x="180" y="763"/>
                  </a:cubicBezTo>
                  <a:cubicBezTo>
                    <a:pt x="231" y="761"/>
                    <a:pt x="267" y="733"/>
                    <a:pt x="307" y="703"/>
                  </a:cubicBezTo>
                  <a:cubicBezTo>
                    <a:pt x="313" y="698"/>
                    <a:pt x="319" y="693"/>
                    <a:pt x="327" y="692"/>
                  </a:cubicBezTo>
                  <a:cubicBezTo>
                    <a:pt x="332" y="692"/>
                    <a:pt x="338" y="693"/>
                    <a:pt x="343" y="695"/>
                  </a:cubicBezTo>
                  <a:cubicBezTo>
                    <a:pt x="365" y="702"/>
                    <a:pt x="466" y="753"/>
                    <a:pt x="594" y="747"/>
                  </a:cubicBezTo>
                  <a:cubicBezTo>
                    <a:pt x="692" y="742"/>
                    <a:pt x="777" y="701"/>
                    <a:pt x="817" y="626"/>
                  </a:cubicBezTo>
                  <a:cubicBezTo>
                    <a:pt x="856" y="553"/>
                    <a:pt x="860" y="475"/>
                    <a:pt x="864" y="453"/>
                  </a:cubicBezTo>
                  <a:cubicBezTo>
                    <a:pt x="868" y="432"/>
                    <a:pt x="888" y="421"/>
                    <a:pt x="907" y="415"/>
                  </a:cubicBezTo>
                  <a:cubicBezTo>
                    <a:pt x="905" y="394"/>
                    <a:pt x="908" y="367"/>
                    <a:pt x="905" y="345"/>
                  </a:cubicBezTo>
                  <a:cubicBezTo>
                    <a:pt x="865" y="312"/>
                    <a:pt x="804" y="290"/>
                    <a:pt x="752" y="298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8959680" y="3810960"/>
              <a:ext cx="39960" cy="24480"/>
            </a:xfrm>
            <a:custGeom>
              <a:avLst/>
              <a:gdLst/>
              <a:ahLst/>
              <a:cxnLst/>
              <a:rect l="l" t="t" r="r" b="b"/>
              <a:pathLst>
                <a:path w="114" h="77">
                  <a:moveTo>
                    <a:pt x="26" y="1"/>
                  </a:moveTo>
                  <a:cubicBezTo>
                    <a:pt x="23" y="0"/>
                    <a:pt x="19" y="0"/>
                    <a:pt x="16" y="0"/>
                  </a:cubicBezTo>
                  <a:cubicBezTo>
                    <a:pt x="10" y="1"/>
                    <a:pt x="8" y="3"/>
                    <a:pt x="6" y="8"/>
                  </a:cubicBezTo>
                  <a:cubicBezTo>
                    <a:pt x="0" y="20"/>
                    <a:pt x="2" y="60"/>
                    <a:pt x="5" y="68"/>
                  </a:cubicBezTo>
                  <a:cubicBezTo>
                    <a:pt x="7" y="73"/>
                    <a:pt x="10" y="76"/>
                    <a:pt x="16" y="76"/>
                  </a:cubicBezTo>
                  <a:cubicBezTo>
                    <a:pt x="18" y="76"/>
                    <a:pt x="21" y="75"/>
                    <a:pt x="23" y="74"/>
                  </a:cubicBezTo>
                  <a:cubicBezTo>
                    <a:pt x="30" y="72"/>
                    <a:pt x="38" y="69"/>
                    <a:pt x="46" y="67"/>
                  </a:cubicBezTo>
                  <a:cubicBezTo>
                    <a:pt x="66" y="60"/>
                    <a:pt x="85" y="54"/>
                    <a:pt x="104" y="47"/>
                  </a:cubicBezTo>
                  <a:cubicBezTo>
                    <a:pt x="107" y="46"/>
                    <a:pt x="111" y="45"/>
                    <a:pt x="112" y="42"/>
                  </a:cubicBezTo>
                  <a:cubicBezTo>
                    <a:pt x="113" y="38"/>
                    <a:pt x="109" y="34"/>
                    <a:pt x="106" y="31"/>
                  </a:cubicBezTo>
                  <a:cubicBezTo>
                    <a:pt x="80" y="19"/>
                    <a:pt x="53" y="9"/>
                    <a:pt x="26" y="1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22320" rIns="90000" bIns="-2232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8915400" y="3813840"/>
              <a:ext cx="19080" cy="18720"/>
            </a:xfrm>
            <a:custGeom>
              <a:avLst/>
              <a:gdLst/>
              <a:ahLst/>
              <a:cxnLst/>
              <a:rect l="l" t="t" r="r" b="b"/>
              <a:pathLst>
                <a:path w="59" h="57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28080" rIns="90000" bIns="-2808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8664480" y="3735720"/>
              <a:ext cx="49320" cy="18720"/>
            </a:xfrm>
            <a:custGeom>
              <a:avLst/>
              <a:gdLst/>
              <a:ahLst/>
              <a:cxnLst/>
              <a:rect l="l" t="t" r="r" b="b"/>
              <a:pathLst>
                <a:path w="140" h="59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28080" rIns="90000" bIns="-2808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8682120" y="3784320"/>
              <a:ext cx="55440" cy="9000"/>
            </a:xfrm>
            <a:custGeom>
              <a:avLst/>
              <a:gdLst/>
              <a:ahLst/>
              <a:cxnLst/>
              <a:rect l="l" t="t" r="r" b="b"/>
              <a:pathLst>
                <a:path w="159" h="33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37800" rIns="90000" bIns="-37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8707320" y="3819960"/>
              <a:ext cx="50760" cy="6120"/>
            </a:xfrm>
            <a:custGeom>
              <a:avLst/>
              <a:gdLst/>
              <a:ahLst/>
              <a:cxnLst/>
              <a:rect l="l" t="t" r="r" b="b"/>
              <a:pathLst>
                <a:path w="146" h="23">
                  <a:moveTo>
                    <a:pt x="107" y="9"/>
                  </a:moveTo>
                  <a:cubicBezTo>
                    <a:pt x="127" y="11"/>
                    <a:pt x="143" y="9"/>
                    <a:pt x="144" y="12"/>
                  </a:cubicBezTo>
                  <a:cubicBezTo>
                    <a:pt x="145" y="17"/>
                    <a:pt x="124" y="18"/>
                    <a:pt x="113" y="18"/>
                  </a:cubicBezTo>
                  <a:cubicBezTo>
                    <a:pt x="80" y="20"/>
                    <a:pt x="57" y="22"/>
                    <a:pt x="20" y="15"/>
                  </a:cubicBezTo>
                  <a:cubicBezTo>
                    <a:pt x="16" y="15"/>
                    <a:pt x="0" y="12"/>
                    <a:pt x="1" y="10"/>
                  </a:cubicBezTo>
                  <a:cubicBezTo>
                    <a:pt x="4" y="6"/>
                    <a:pt x="12" y="1"/>
                    <a:pt x="17" y="0"/>
                  </a:cubicBezTo>
                  <a:cubicBezTo>
                    <a:pt x="38" y="5"/>
                    <a:pt x="86" y="8"/>
                    <a:pt x="107" y="9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40680" rIns="90000" bIns="-4068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8739360" y="3855960"/>
              <a:ext cx="45720" cy="5760"/>
            </a:xfrm>
            <a:custGeom>
              <a:avLst/>
              <a:gdLst/>
              <a:ahLst/>
              <a:cxnLst/>
              <a:rect l="l" t="t" r="r" b="b"/>
              <a:pathLst>
                <a:path w="132" h="20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41040" rIns="90000" bIns="-4104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11103176" y="4245017"/>
            <a:ext cx="434095" cy="324363"/>
            <a:chOff x="9180360" y="3510000"/>
            <a:chExt cx="358920" cy="268200"/>
          </a:xfrm>
        </p:grpSpPr>
        <p:sp>
          <p:nvSpPr>
            <p:cNvPr id="133" name="Freeform 132"/>
            <p:cNvSpPr/>
            <p:nvPr/>
          </p:nvSpPr>
          <p:spPr>
            <a:xfrm>
              <a:off x="9323280" y="3511080"/>
              <a:ext cx="98640" cy="155880"/>
            </a:xfrm>
            <a:custGeom>
              <a:avLst/>
              <a:gdLst/>
              <a:ahLst/>
              <a:cxnLst/>
              <a:rect l="l" t="t" r="r" b="b"/>
              <a:pathLst>
                <a:path w="277" h="447">
                  <a:moveTo>
                    <a:pt x="214" y="151"/>
                  </a:moveTo>
                  <a:cubicBezTo>
                    <a:pt x="171" y="70"/>
                    <a:pt x="79" y="0"/>
                    <a:pt x="41" y="12"/>
                  </a:cubicBezTo>
                  <a:cubicBezTo>
                    <a:pt x="13" y="25"/>
                    <a:pt x="45" y="79"/>
                    <a:pt x="71" y="108"/>
                  </a:cubicBezTo>
                  <a:cubicBezTo>
                    <a:pt x="74" y="110"/>
                    <a:pt x="72" y="114"/>
                    <a:pt x="68" y="114"/>
                  </a:cubicBezTo>
                  <a:cubicBezTo>
                    <a:pt x="56" y="111"/>
                    <a:pt x="42" y="111"/>
                    <a:pt x="36" y="118"/>
                  </a:cubicBezTo>
                  <a:cubicBezTo>
                    <a:pt x="22" y="135"/>
                    <a:pt x="42" y="159"/>
                    <a:pt x="59" y="175"/>
                  </a:cubicBezTo>
                  <a:cubicBezTo>
                    <a:pt x="62" y="177"/>
                    <a:pt x="60" y="182"/>
                    <a:pt x="56" y="181"/>
                  </a:cubicBezTo>
                  <a:cubicBezTo>
                    <a:pt x="41" y="178"/>
                    <a:pt x="26" y="178"/>
                    <a:pt x="21" y="184"/>
                  </a:cubicBezTo>
                  <a:cubicBezTo>
                    <a:pt x="0" y="209"/>
                    <a:pt x="31" y="282"/>
                    <a:pt x="49" y="309"/>
                  </a:cubicBezTo>
                  <a:cubicBezTo>
                    <a:pt x="71" y="341"/>
                    <a:pt x="94" y="373"/>
                    <a:pt x="123" y="398"/>
                  </a:cubicBezTo>
                  <a:cubicBezTo>
                    <a:pt x="153" y="424"/>
                    <a:pt x="190" y="443"/>
                    <a:pt x="229" y="446"/>
                  </a:cubicBezTo>
                  <a:cubicBezTo>
                    <a:pt x="231" y="446"/>
                    <a:pt x="233" y="446"/>
                    <a:pt x="234" y="446"/>
                  </a:cubicBezTo>
                  <a:cubicBezTo>
                    <a:pt x="236" y="445"/>
                    <a:pt x="237" y="442"/>
                    <a:pt x="238" y="440"/>
                  </a:cubicBezTo>
                  <a:cubicBezTo>
                    <a:pt x="245" y="422"/>
                    <a:pt x="247" y="415"/>
                    <a:pt x="250" y="400"/>
                  </a:cubicBezTo>
                  <a:cubicBezTo>
                    <a:pt x="253" y="339"/>
                    <a:pt x="276" y="270"/>
                    <a:pt x="214" y="151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9180360" y="3510000"/>
              <a:ext cx="325440" cy="268200"/>
            </a:xfrm>
            <a:custGeom>
              <a:avLst/>
              <a:gdLst/>
              <a:ahLst/>
              <a:cxnLst/>
              <a:rect l="l" t="t" r="r" b="b"/>
              <a:pathLst>
                <a:path w="909" h="764">
                  <a:moveTo>
                    <a:pt x="752" y="298"/>
                  </a:moveTo>
                  <a:cubicBezTo>
                    <a:pt x="700" y="306"/>
                    <a:pt x="647" y="355"/>
                    <a:pt x="620" y="399"/>
                  </a:cubicBezTo>
                  <a:cubicBezTo>
                    <a:pt x="619" y="402"/>
                    <a:pt x="616" y="405"/>
                    <a:pt x="613" y="406"/>
                  </a:cubicBezTo>
                  <a:cubicBezTo>
                    <a:pt x="609" y="406"/>
                    <a:pt x="606" y="403"/>
                    <a:pt x="603" y="401"/>
                  </a:cubicBezTo>
                  <a:cubicBezTo>
                    <a:pt x="575" y="375"/>
                    <a:pt x="538" y="342"/>
                    <a:pt x="492" y="285"/>
                  </a:cubicBezTo>
                  <a:cubicBezTo>
                    <a:pt x="472" y="260"/>
                    <a:pt x="373" y="141"/>
                    <a:pt x="276" y="73"/>
                  </a:cubicBezTo>
                  <a:cubicBezTo>
                    <a:pt x="192" y="15"/>
                    <a:pt x="86" y="0"/>
                    <a:pt x="50" y="24"/>
                  </a:cubicBezTo>
                  <a:cubicBezTo>
                    <a:pt x="33" y="35"/>
                    <a:pt x="30" y="60"/>
                    <a:pt x="37" y="79"/>
                  </a:cubicBezTo>
                  <a:cubicBezTo>
                    <a:pt x="45" y="98"/>
                    <a:pt x="71" y="120"/>
                    <a:pt x="91" y="129"/>
                  </a:cubicBezTo>
                  <a:cubicBezTo>
                    <a:pt x="66" y="126"/>
                    <a:pt x="34" y="146"/>
                    <a:pt x="34" y="170"/>
                  </a:cubicBezTo>
                  <a:cubicBezTo>
                    <a:pt x="34" y="212"/>
                    <a:pt x="109" y="258"/>
                    <a:pt x="133" y="265"/>
                  </a:cubicBezTo>
                  <a:cubicBezTo>
                    <a:pt x="112" y="266"/>
                    <a:pt x="95" y="290"/>
                    <a:pt x="100" y="310"/>
                  </a:cubicBezTo>
                  <a:cubicBezTo>
                    <a:pt x="109" y="349"/>
                    <a:pt x="181" y="367"/>
                    <a:pt x="203" y="370"/>
                  </a:cubicBezTo>
                  <a:cubicBezTo>
                    <a:pt x="183" y="374"/>
                    <a:pt x="172" y="399"/>
                    <a:pt x="179" y="418"/>
                  </a:cubicBezTo>
                  <a:cubicBezTo>
                    <a:pt x="190" y="448"/>
                    <a:pt x="262" y="467"/>
                    <a:pt x="282" y="471"/>
                  </a:cubicBezTo>
                  <a:cubicBezTo>
                    <a:pt x="264" y="487"/>
                    <a:pt x="271" y="513"/>
                    <a:pt x="290" y="527"/>
                  </a:cubicBezTo>
                  <a:cubicBezTo>
                    <a:pt x="306" y="540"/>
                    <a:pt x="328" y="548"/>
                    <a:pt x="349" y="551"/>
                  </a:cubicBezTo>
                  <a:cubicBezTo>
                    <a:pt x="295" y="545"/>
                    <a:pt x="232" y="537"/>
                    <a:pt x="179" y="536"/>
                  </a:cubicBezTo>
                  <a:cubicBezTo>
                    <a:pt x="127" y="535"/>
                    <a:pt x="48" y="552"/>
                    <a:pt x="0" y="595"/>
                  </a:cubicBezTo>
                  <a:cubicBezTo>
                    <a:pt x="69" y="623"/>
                    <a:pt x="149" y="682"/>
                    <a:pt x="180" y="763"/>
                  </a:cubicBezTo>
                  <a:cubicBezTo>
                    <a:pt x="231" y="761"/>
                    <a:pt x="267" y="733"/>
                    <a:pt x="307" y="703"/>
                  </a:cubicBezTo>
                  <a:cubicBezTo>
                    <a:pt x="313" y="698"/>
                    <a:pt x="319" y="693"/>
                    <a:pt x="327" y="692"/>
                  </a:cubicBezTo>
                  <a:cubicBezTo>
                    <a:pt x="332" y="692"/>
                    <a:pt x="338" y="693"/>
                    <a:pt x="343" y="695"/>
                  </a:cubicBezTo>
                  <a:cubicBezTo>
                    <a:pt x="365" y="702"/>
                    <a:pt x="466" y="753"/>
                    <a:pt x="594" y="747"/>
                  </a:cubicBezTo>
                  <a:cubicBezTo>
                    <a:pt x="692" y="742"/>
                    <a:pt x="777" y="701"/>
                    <a:pt x="817" y="626"/>
                  </a:cubicBezTo>
                  <a:cubicBezTo>
                    <a:pt x="856" y="553"/>
                    <a:pt x="860" y="475"/>
                    <a:pt x="864" y="453"/>
                  </a:cubicBezTo>
                  <a:cubicBezTo>
                    <a:pt x="868" y="432"/>
                    <a:pt x="888" y="421"/>
                    <a:pt x="907" y="415"/>
                  </a:cubicBezTo>
                  <a:cubicBezTo>
                    <a:pt x="905" y="394"/>
                    <a:pt x="908" y="367"/>
                    <a:pt x="905" y="345"/>
                  </a:cubicBezTo>
                  <a:cubicBezTo>
                    <a:pt x="865" y="312"/>
                    <a:pt x="804" y="290"/>
                    <a:pt x="752" y="298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9499680" y="3631680"/>
              <a:ext cx="39600" cy="24480"/>
            </a:xfrm>
            <a:custGeom>
              <a:avLst/>
              <a:gdLst/>
              <a:ahLst/>
              <a:cxnLst/>
              <a:rect l="l" t="t" r="r" b="b"/>
              <a:pathLst>
                <a:path w="114" h="77">
                  <a:moveTo>
                    <a:pt x="26" y="1"/>
                  </a:moveTo>
                  <a:cubicBezTo>
                    <a:pt x="23" y="0"/>
                    <a:pt x="19" y="0"/>
                    <a:pt x="16" y="0"/>
                  </a:cubicBezTo>
                  <a:cubicBezTo>
                    <a:pt x="10" y="1"/>
                    <a:pt x="8" y="3"/>
                    <a:pt x="6" y="8"/>
                  </a:cubicBezTo>
                  <a:cubicBezTo>
                    <a:pt x="0" y="20"/>
                    <a:pt x="2" y="60"/>
                    <a:pt x="5" y="68"/>
                  </a:cubicBezTo>
                  <a:cubicBezTo>
                    <a:pt x="7" y="73"/>
                    <a:pt x="10" y="76"/>
                    <a:pt x="16" y="76"/>
                  </a:cubicBezTo>
                  <a:cubicBezTo>
                    <a:pt x="18" y="76"/>
                    <a:pt x="21" y="75"/>
                    <a:pt x="23" y="74"/>
                  </a:cubicBezTo>
                  <a:cubicBezTo>
                    <a:pt x="30" y="72"/>
                    <a:pt x="38" y="69"/>
                    <a:pt x="46" y="67"/>
                  </a:cubicBezTo>
                  <a:cubicBezTo>
                    <a:pt x="66" y="60"/>
                    <a:pt x="85" y="54"/>
                    <a:pt x="104" y="47"/>
                  </a:cubicBezTo>
                  <a:cubicBezTo>
                    <a:pt x="107" y="46"/>
                    <a:pt x="111" y="45"/>
                    <a:pt x="112" y="42"/>
                  </a:cubicBezTo>
                  <a:cubicBezTo>
                    <a:pt x="113" y="38"/>
                    <a:pt x="109" y="34"/>
                    <a:pt x="106" y="31"/>
                  </a:cubicBezTo>
                  <a:cubicBezTo>
                    <a:pt x="80" y="19"/>
                    <a:pt x="53" y="9"/>
                    <a:pt x="26" y="1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22320" rIns="90000" bIns="-2232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9455040" y="3633120"/>
              <a:ext cx="19080" cy="18720"/>
            </a:xfrm>
            <a:custGeom>
              <a:avLst/>
              <a:gdLst/>
              <a:ahLst/>
              <a:cxnLst/>
              <a:rect l="l" t="t" r="r" b="b"/>
              <a:pathLst>
                <a:path w="59" h="57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28080" rIns="90000" bIns="-2808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9204480" y="3555000"/>
              <a:ext cx="48960" cy="18360"/>
            </a:xfrm>
            <a:custGeom>
              <a:avLst/>
              <a:gdLst/>
              <a:ahLst/>
              <a:cxnLst/>
              <a:rect l="l" t="t" r="r" b="b"/>
              <a:pathLst>
                <a:path w="140" h="59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28440" rIns="90000" bIns="-2844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9221760" y="3603240"/>
              <a:ext cx="55440" cy="9360"/>
            </a:xfrm>
            <a:custGeom>
              <a:avLst/>
              <a:gdLst/>
              <a:ahLst/>
              <a:cxnLst/>
              <a:rect l="l" t="t" r="r" b="b"/>
              <a:pathLst>
                <a:path w="159" h="33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37440" rIns="90000" bIns="-3744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9247320" y="3640680"/>
              <a:ext cx="50760" cy="6120"/>
            </a:xfrm>
            <a:custGeom>
              <a:avLst/>
              <a:gdLst/>
              <a:ahLst/>
              <a:cxnLst/>
              <a:rect l="l" t="t" r="r" b="b"/>
              <a:pathLst>
                <a:path w="146" h="23">
                  <a:moveTo>
                    <a:pt x="107" y="9"/>
                  </a:moveTo>
                  <a:cubicBezTo>
                    <a:pt x="127" y="11"/>
                    <a:pt x="143" y="9"/>
                    <a:pt x="144" y="12"/>
                  </a:cubicBezTo>
                  <a:cubicBezTo>
                    <a:pt x="145" y="17"/>
                    <a:pt x="124" y="18"/>
                    <a:pt x="113" y="18"/>
                  </a:cubicBezTo>
                  <a:cubicBezTo>
                    <a:pt x="80" y="20"/>
                    <a:pt x="57" y="22"/>
                    <a:pt x="20" y="15"/>
                  </a:cubicBezTo>
                  <a:cubicBezTo>
                    <a:pt x="16" y="15"/>
                    <a:pt x="0" y="12"/>
                    <a:pt x="1" y="10"/>
                  </a:cubicBezTo>
                  <a:cubicBezTo>
                    <a:pt x="4" y="6"/>
                    <a:pt x="12" y="1"/>
                    <a:pt x="17" y="0"/>
                  </a:cubicBezTo>
                  <a:cubicBezTo>
                    <a:pt x="38" y="5"/>
                    <a:pt x="86" y="8"/>
                    <a:pt x="107" y="9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40680" rIns="90000" bIns="-4068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9279000" y="3676680"/>
              <a:ext cx="46080" cy="5760"/>
            </a:xfrm>
            <a:custGeom>
              <a:avLst/>
              <a:gdLst/>
              <a:ahLst/>
              <a:cxnLst/>
              <a:rect l="l" t="t" r="r" b="b"/>
              <a:pathLst>
                <a:path w="132" h="20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</a:path>
              </a:pathLst>
            </a:custGeom>
            <a:solidFill>
              <a:srgbClr val="74B53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-41040" rIns="90000" bIns="-41040" anchor="ctr">
              <a:noAutofit/>
            </a:bodyPr>
            <a:lstStyle/>
            <a:p>
              <a:pPr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tabLst>
                  <a:tab pos="0" algn="l"/>
                  <a:tab pos="543359" algn="l"/>
                  <a:tab pos="1086718" algn="l"/>
                  <a:tab pos="1630078" algn="l"/>
                  <a:tab pos="2173437" algn="l"/>
                  <a:tab pos="2716796" algn="l"/>
                  <a:tab pos="3260155" algn="l"/>
                  <a:tab pos="3803515" algn="l"/>
                  <a:tab pos="4346874" algn="l"/>
                  <a:tab pos="4890233" algn="l"/>
                  <a:tab pos="5433592" algn="l"/>
                  <a:tab pos="5976516" algn="l"/>
                  <a:tab pos="6519875" algn="l"/>
                  <a:tab pos="7063235" algn="l"/>
                  <a:tab pos="7606594" algn="l"/>
                  <a:tab pos="8149953" algn="l"/>
                  <a:tab pos="8693312" algn="l"/>
                  <a:tab pos="9236672" algn="l"/>
                  <a:tab pos="9780031" algn="l"/>
                  <a:tab pos="10323390" algn="l"/>
                  <a:tab pos="10866749" algn="l"/>
                </a:tabLst>
              </a:pPr>
              <a:endParaRPr lang="en-IN" sz="2177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dt" idx="7"/>
          </p:nvPr>
        </p:nvSpPr>
        <p:spPr>
          <a:xfrm>
            <a:off x="608256" y="6246923"/>
            <a:ext cx="2837512" cy="4706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None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  <a:defRPr lang="en-IN" sz="1693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IN" smtClean="0"/>
              <a:t>&lt;date/time&gt;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ftr" idx="8"/>
          </p:nvPr>
        </p:nvSpPr>
        <p:spPr>
          <a:xfrm>
            <a:off x="4170276" y="6246923"/>
            <a:ext cx="3862883" cy="4706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None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  <a:defRPr lang="en-IN" sz="1693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r>
              <a:rPr lang="en-IN" smtClean="0"/>
              <a:t>&lt;footer&gt;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9"/>
          </p:nvPr>
        </p:nvSpPr>
        <p:spPr>
          <a:xfrm>
            <a:off x="8741558" y="6246923"/>
            <a:ext cx="2837947" cy="4706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None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  <a:defRPr lang="en-IN" sz="1693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fld id="{1C391929-00CF-4233-BC9A-441A579E4119}" type="slidenum">
              <a:rPr lang="en-IN" smtClean="0"/>
              <a:pPr/>
              <a:t>‹#›</a:t>
            </a:fld>
            <a:endParaRPr lang="en-IN">
              <a:solidFill>
                <a:srgbClr val="000000"/>
              </a:solidFill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title"/>
          </p:nvPr>
        </p:nvSpPr>
        <p:spPr>
          <a:xfrm>
            <a:off x="652232" y="216823"/>
            <a:ext cx="10882862" cy="108672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None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  <a:defRPr/>
            </a:lvl1pPr>
          </a:lstStyle>
          <a:p>
            <a: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3991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52232" y="1524288"/>
            <a:ext cx="10882862" cy="3916735"/>
          </a:xfrm>
          <a:prstGeom prst="rect">
            <a:avLst/>
          </a:prstGeom>
          <a:noFill/>
          <a:ln w="0">
            <a:noFill/>
          </a:ln>
        </p:spPr>
        <p:txBody>
          <a:bodyPr lIns="0" tIns="21240" rIns="0" bIns="0" anchor="t">
            <a:normAutofit/>
          </a:bodyPr>
          <a:lstStyle>
            <a:lvl1pPr marL="414921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  <a:defRPr/>
            </a:lvl1pPr>
          </a:lstStyle>
          <a:p>
            <a:pPr marL="343080" indent="-343080">
              <a:lnSpc>
                <a:spcPct val="93000"/>
              </a:lnSpc>
              <a:spcBef>
                <a:spcPts val="1074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414921" lvl="1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414921" lvl="2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414921" lvl="3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414921" lvl="4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414921" lvl="5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414921" lvl="6" indent="-414921">
              <a:lnSpc>
                <a:spcPct val="93000"/>
              </a:lnSpc>
              <a:spcBef>
                <a:spcPts val="1299"/>
              </a:spcBef>
              <a:spcAft>
                <a:spcPts val="13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</a:tabLst>
            </a:pPr>
            <a:r>
              <a:rPr lang="en-IN" sz="2903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92837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3A885-5F7B-4D2F-8752-E5DC79979967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C1AE5-A1DE-415B-8CD1-7E08D07E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8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hyperlink" Target="mailto:fajlurahaman185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429"/>
            <a:ext cx="12192000" cy="4228571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8266" y="6432504"/>
            <a:ext cx="2743200" cy="365125"/>
          </a:xfrm>
        </p:spPr>
        <p:txBody>
          <a:bodyPr/>
          <a:lstStyle/>
          <a:p>
            <a:fld id="{3B96B7DA-C1A7-4C35-B3F7-D835726BB942}" type="datetime1">
              <a:rPr lang="en-US" smtClean="0">
                <a:solidFill>
                  <a:srgbClr val="070A36"/>
                </a:solidFill>
              </a:rPr>
              <a:t>12/4/2025</a:t>
            </a:fld>
            <a:endParaRPr lang="en-US" dirty="0">
              <a:solidFill>
                <a:srgbClr val="070A3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>
                <a:solidFill>
                  <a:srgbClr val="070A36"/>
                </a:solidFill>
              </a:rPr>
              <a:t>1</a:t>
            </a:fld>
            <a:endParaRPr lang="en-US" dirty="0">
              <a:solidFill>
                <a:srgbClr val="070A3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224" y="3441768"/>
            <a:ext cx="1165538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Bookman Old Style" panose="02050604050505020204" pitchFamily="18" charset="0"/>
              </a:rPr>
              <a:t>Weather Forecasting </a:t>
            </a:r>
            <a:endParaRPr lang="en-US" sz="36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23776" y="4507932"/>
            <a:ext cx="1944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70A36"/>
                </a:solidFill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1532" y="5317612"/>
            <a:ext cx="6988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930B0B"/>
                </a:solidFill>
              </a:rPr>
              <a:t>Fajlu </a:t>
            </a:r>
            <a:r>
              <a:rPr lang="en-US" sz="2800" b="1" dirty="0">
                <a:solidFill>
                  <a:srgbClr val="930B0B"/>
                </a:solidFill>
              </a:rPr>
              <a:t>R</a:t>
            </a:r>
            <a:r>
              <a:rPr lang="en-US" sz="2800" b="1" dirty="0" smtClean="0">
                <a:solidFill>
                  <a:srgbClr val="930B0B"/>
                </a:solidFill>
              </a:rPr>
              <a:t>ahaman</a:t>
            </a:r>
            <a:endParaRPr lang="en-US" sz="2800" b="1" dirty="0">
              <a:solidFill>
                <a:srgbClr val="930B0B"/>
              </a:solidFill>
            </a:endParaRPr>
          </a:p>
          <a:p>
            <a:pPr algn="ctr"/>
            <a:r>
              <a:rPr lang="en-US" sz="2800" b="1" dirty="0" smtClean="0">
                <a:solidFill>
                  <a:srgbClr val="930B0B"/>
                </a:solidFill>
              </a:rPr>
              <a:t>Shobhit </a:t>
            </a:r>
            <a:r>
              <a:rPr lang="en-US" sz="2800" b="1" dirty="0" smtClean="0">
                <a:solidFill>
                  <a:srgbClr val="930B0B"/>
                </a:solidFill>
              </a:rPr>
              <a:t>University </a:t>
            </a:r>
            <a:r>
              <a:rPr lang="en-US" sz="2800" b="1" dirty="0">
                <a:solidFill>
                  <a:srgbClr val="930B0B"/>
                </a:solidFill>
              </a:rPr>
              <a:t>G</a:t>
            </a:r>
            <a:r>
              <a:rPr lang="en-US" sz="2800" b="1" dirty="0" smtClean="0">
                <a:solidFill>
                  <a:srgbClr val="930B0B"/>
                </a:solidFill>
              </a:rPr>
              <a:t>angoh</a:t>
            </a:r>
            <a:endParaRPr lang="en-US" sz="2800" b="1" dirty="0">
              <a:solidFill>
                <a:srgbClr val="930B0B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8200" y="4644692"/>
            <a:ext cx="1763332" cy="175251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Oval 13"/>
          <p:cNvSpPr/>
          <p:nvPr/>
        </p:nvSpPr>
        <p:spPr>
          <a:xfrm>
            <a:off x="9590467" y="4644692"/>
            <a:ext cx="1763332" cy="1752516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Paper_ID</a:t>
            </a:r>
          </a:p>
          <a:p>
            <a:pPr algn="ctr"/>
            <a:r>
              <a:rPr lang="en-US" sz="4000" b="1" dirty="0" smtClean="0">
                <a:solidFill>
                  <a:srgbClr val="002060"/>
                </a:solidFill>
              </a:rPr>
              <a:t>74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25676" t="7807" r="26283" b="77538"/>
          <a:stretch/>
        </p:blipFill>
        <p:spPr>
          <a:xfrm>
            <a:off x="0" y="-125083"/>
            <a:ext cx="12192000" cy="20920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35" y="4691323"/>
            <a:ext cx="1659253" cy="165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8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3E5A4305-B737-7995-D7AA-BA79F734F3D3}"/>
              </a:ext>
            </a:extLst>
          </p:cNvPr>
          <p:cNvGrpSpPr/>
          <p:nvPr/>
        </p:nvGrpSpPr>
        <p:grpSpPr>
          <a:xfrm>
            <a:off x="1312099" y="1811624"/>
            <a:ext cx="10146160" cy="4756003"/>
            <a:chOff x="270766" y="1219043"/>
            <a:chExt cx="8389371" cy="393251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EC70FD74-C471-FE29-DCA7-FBE0EC3192ED}"/>
                </a:ext>
              </a:extLst>
            </p:cNvPr>
            <p:cNvGrpSpPr/>
            <p:nvPr/>
          </p:nvGrpSpPr>
          <p:grpSpPr>
            <a:xfrm>
              <a:off x="270766" y="1531482"/>
              <a:ext cx="3620071" cy="3620071"/>
              <a:chOff x="644002" y="1574800"/>
              <a:chExt cx="3620976" cy="3620976"/>
            </a:xfrm>
          </p:grpSpPr>
          <p:sp>
            <p:nvSpPr>
              <p:cNvPr id="10" name="Freeform: Shape 21">
                <a:extLst>
                  <a:ext uri="{FF2B5EF4-FFF2-40B4-BE49-F238E27FC236}">
                    <a16:creationId xmlns:a16="http://schemas.microsoft.com/office/drawing/2014/main" xmlns="" id="{EB13288B-6E8C-B1BC-A6D7-FF03F2187CDF}"/>
                  </a:ext>
                </a:extLst>
              </p:cNvPr>
              <p:cNvSpPr/>
              <p:nvPr/>
            </p:nvSpPr>
            <p:spPr>
              <a:xfrm>
                <a:off x="644002" y="3747386"/>
                <a:ext cx="3620976" cy="1448390"/>
              </a:xfrm>
              <a:custGeom>
                <a:avLst/>
                <a:gdLst>
                  <a:gd name="connsiteX0" fmla="*/ 0 w 4055806"/>
                  <a:gd name="connsiteY0" fmla="*/ 0 h 1622322"/>
                  <a:gd name="connsiteX1" fmla="*/ 0 w 4055806"/>
                  <a:gd name="connsiteY1" fmla="*/ 1554726 h 1622322"/>
                  <a:gd name="connsiteX2" fmla="*/ 67597 w 4055806"/>
                  <a:gd name="connsiteY2" fmla="*/ 1622323 h 1622322"/>
                  <a:gd name="connsiteX3" fmla="*/ 3988210 w 4055806"/>
                  <a:gd name="connsiteY3" fmla="*/ 1622323 h 1622322"/>
                  <a:gd name="connsiteX4" fmla="*/ 4055807 w 4055806"/>
                  <a:gd name="connsiteY4" fmla="*/ 1554726 h 1622322"/>
                  <a:gd name="connsiteX5" fmla="*/ 4055807 w 4055806"/>
                  <a:gd name="connsiteY5" fmla="*/ 0 h 1622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55806" h="1622322">
                    <a:moveTo>
                      <a:pt x="0" y="0"/>
                    </a:moveTo>
                    <a:lnTo>
                      <a:pt x="0" y="1554726"/>
                    </a:lnTo>
                    <a:cubicBezTo>
                      <a:pt x="0" y="1591904"/>
                      <a:pt x="30419" y="1622323"/>
                      <a:pt x="67597" y="1622323"/>
                    </a:cubicBezTo>
                    <a:lnTo>
                      <a:pt x="3988210" y="1622323"/>
                    </a:lnTo>
                    <a:cubicBezTo>
                      <a:pt x="4025388" y="1622323"/>
                      <a:pt x="4055807" y="1591904"/>
                      <a:pt x="4055807" y="1554726"/>
                    </a:cubicBezTo>
                    <a:lnTo>
                      <a:pt x="4055807" y="0"/>
                    </a:lnTo>
                    <a:close/>
                  </a:path>
                </a:pathLst>
              </a:custGeom>
              <a:solidFill>
                <a:schemeClr val="tx1">
                  <a:alpha val="14000"/>
                </a:schemeClr>
              </a:solidFill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1" name="Freeform: Shape 25">
                <a:extLst>
                  <a:ext uri="{FF2B5EF4-FFF2-40B4-BE49-F238E27FC236}">
                    <a16:creationId xmlns:a16="http://schemas.microsoft.com/office/drawing/2014/main" xmlns="" id="{DE05110F-9329-4387-EDE5-E2681460D74E}"/>
                  </a:ext>
                </a:extLst>
              </p:cNvPr>
              <p:cNvSpPr/>
              <p:nvPr/>
            </p:nvSpPr>
            <p:spPr>
              <a:xfrm>
                <a:off x="644002" y="3264589"/>
                <a:ext cx="3620976" cy="482797"/>
              </a:xfrm>
              <a:custGeom>
                <a:avLst/>
                <a:gdLst>
                  <a:gd name="connsiteX0" fmla="*/ 0 w 4055806"/>
                  <a:gd name="connsiteY0" fmla="*/ 0 h 540774"/>
                  <a:gd name="connsiteX1" fmla="*/ 4055807 w 4055806"/>
                  <a:gd name="connsiteY1" fmla="*/ 0 h 540774"/>
                  <a:gd name="connsiteX2" fmla="*/ 4055807 w 4055806"/>
                  <a:gd name="connsiteY2" fmla="*/ 540774 h 540774"/>
                  <a:gd name="connsiteX3" fmla="*/ 0 w 4055806"/>
                  <a:gd name="connsiteY3" fmla="*/ 540774 h 54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5806" h="540774">
                    <a:moveTo>
                      <a:pt x="0" y="0"/>
                    </a:moveTo>
                    <a:lnTo>
                      <a:pt x="4055807" y="0"/>
                    </a:lnTo>
                    <a:lnTo>
                      <a:pt x="4055807" y="540774"/>
                    </a:lnTo>
                    <a:lnTo>
                      <a:pt x="0" y="540774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2" name="Freeform: Shape 1069">
                <a:extLst>
                  <a:ext uri="{FF2B5EF4-FFF2-40B4-BE49-F238E27FC236}">
                    <a16:creationId xmlns:a16="http://schemas.microsoft.com/office/drawing/2014/main" xmlns="" id="{F54BD626-A38D-D363-CB0E-7619B6E2742F}"/>
                  </a:ext>
                </a:extLst>
              </p:cNvPr>
              <p:cNvSpPr/>
              <p:nvPr/>
            </p:nvSpPr>
            <p:spPr>
              <a:xfrm>
                <a:off x="2152743" y="3988784"/>
                <a:ext cx="603496" cy="965594"/>
              </a:xfrm>
              <a:custGeom>
                <a:avLst/>
                <a:gdLst>
                  <a:gd name="connsiteX0" fmla="*/ 301748 w 603496"/>
                  <a:gd name="connsiteY0" fmla="*/ 724196 h 965594"/>
                  <a:gd name="connsiteX1" fmla="*/ 422446 w 603496"/>
                  <a:gd name="connsiteY1" fmla="*/ 844896 h 965594"/>
                  <a:gd name="connsiteX2" fmla="*/ 301748 w 603496"/>
                  <a:gd name="connsiteY2" fmla="*/ 965594 h 965594"/>
                  <a:gd name="connsiteX3" fmla="*/ 181048 w 603496"/>
                  <a:gd name="connsiteY3" fmla="*/ 844896 h 965594"/>
                  <a:gd name="connsiteX4" fmla="*/ 301748 w 603496"/>
                  <a:gd name="connsiteY4" fmla="*/ 724196 h 965594"/>
                  <a:gd name="connsiteX5" fmla="*/ 0 w 603496"/>
                  <a:gd name="connsiteY5" fmla="*/ 422448 h 965594"/>
                  <a:gd name="connsiteX6" fmla="*/ 603496 w 603496"/>
                  <a:gd name="connsiteY6" fmla="*/ 422448 h 965594"/>
                  <a:gd name="connsiteX7" fmla="*/ 603496 w 603496"/>
                  <a:gd name="connsiteY7" fmla="*/ 543148 h 965594"/>
                  <a:gd name="connsiteX8" fmla="*/ 0 w 603496"/>
                  <a:gd name="connsiteY8" fmla="*/ 543148 h 965594"/>
                  <a:gd name="connsiteX9" fmla="*/ 301748 w 603496"/>
                  <a:gd name="connsiteY9" fmla="*/ 0 h 965594"/>
                  <a:gd name="connsiteX10" fmla="*/ 422446 w 603496"/>
                  <a:gd name="connsiteY10" fmla="*/ 120700 h 965594"/>
                  <a:gd name="connsiteX11" fmla="*/ 301748 w 603496"/>
                  <a:gd name="connsiteY11" fmla="*/ 241398 h 965594"/>
                  <a:gd name="connsiteX12" fmla="*/ 181048 w 603496"/>
                  <a:gd name="connsiteY12" fmla="*/ 120700 h 965594"/>
                  <a:gd name="connsiteX13" fmla="*/ 301748 w 603496"/>
                  <a:gd name="connsiteY13" fmla="*/ 0 h 96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03496" h="965594">
                    <a:moveTo>
                      <a:pt x="301748" y="724196"/>
                    </a:moveTo>
                    <a:cubicBezTo>
                      <a:pt x="368408" y="724196"/>
                      <a:pt x="422446" y="778235"/>
                      <a:pt x="422446" y="844896"/>
                    </a:cubicBezTo>
                    <a:cubicBezTo>
                      <a:pt x="422446" y="911556"/>
                      <a:pt x="368408" y="965594"/>
                      <a:pt x="301748" y="965594"/>
                    </a:cubicBezTo>
                    <a:cubicBezTo>
                      <a:pt x="235087" y="965594"/>
                      <a:pt x="181048" y="911556"/>
                      <a:pt x="181048" y="844896"/>
                    </a:cubicBezTo>
                    <a:cubicBezTo>
                      <a:pt x="181048" y="778235"/>
                      <a:pt x="235087" y="724196"/>
                      <a:pt x="301748" y="724196"/>
                    </a:cubicBezTo>
                    <a:close/>
                    <a:moveTo>
                      <a:pt x="0" y="422448"/>
                    </a:moveTo>
                    <a:lnTo>
                      <a:pt x="603496" y="422448"/>
                    </a:lnTo>
                    <a:lnTo>
                      <a:pt x="603496" y="543148"/>
                    </a:lnTo>
                    <a:lnTo>
                      <a:pt x="0" y="543148"/>
                    </a:lnTo>
                    <a:close/>
                    <a:moveTo>
                      <a:pt x="301748" y="0"/>
                    </a:moveTo>
                    <a:cubicBezTo>
                      <a:pt x="368408" y="0"/>
                      <a:pt x="422446" y="54039"/>
                      <a:pt x="422446" y="120700"/>
                    </a:cubicBezTo>
                    <a:cubicBezTo>
                      <a:pt x="422446" y="187360"/>
                      <a:pt x="368408" y="241398"/>
                      <a:pt x="301748" y="241398"/>
                    </a:cubicBezTo>
                    <a:cubicBezTo>
                      <a:pt x="235087" y="241398"/>
                      <a:pt x="181048" y="187360"/>
                      <a:pt x="181048" y="120700"/>
                    </a:cubicBezTo>
                    <a:cubicBezTo>
                      <a:pt x="181048" y="54039"/>
                      <a:pt x="235087" y="0"/>
                      <a:pt x="30174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75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3" name="Freeform: Shape 28">
                <a:extLst>
                  <a:ext uri="{FF2B5EF4-FFF2-40B4-BE49-F238E27FC236}">
                    <a16:creationId xmlns:a16="http://schemas.microsoft.com/office/drawing/2014/main" xmlns="" id="{FBB436DB-185F-731C-FC4C-746A5AC3F2F4}"/>
                  </a:ext>
                </a:extLst>
              </p:cNvPr>
              <p:cNvSpPr/>
              <p:nvPr/>
            </p:nvSpPr>
            <p:spPr>
              <a:xfrm>
                <a:off x="644002" y="1574800"/>
                <a:ext cx="3620976" cy="1689788"/>
              </a:xfrm>
              <a:custGeom>
                <a:avLst/>
                <a:gdLst>
                  <a:gd name="connsiteX0" fmla="*/ 4055807 w 4055806"/>
                  <a:gd name="connsiteY0" fmla="*/ 67597 h 1892709"/>
                  <a:gd name="connsiteX1" fmla="*/ 4055807 w 4055806"/>
                  <a:gd name="connsiteY1" fmla="*/ 1892710 h 1892709"/>
                  <a:gd name="connsiteX2" fmla="*/ 2974258 w 4055806"/>
                  <a:gd name="connsiteY2" fmla="*/ 1892710 h 1892709"/>
                  <a:gd name="connsiteX3" fmla="*/ 1081548 w 4055806"/>
                  <a:gd name="connsiteY3" fmla="*/ 1892710 h 1892709"/>
                  <a:gd name="connsiteX4" fmla="*/ 0 w 4055806"/>
                  <a:gd name="connsiteY4" fmla="*/ 1892710 h 1892709"/>
                  <a:gd name="connsiteX5" fmla="*/ 0 w 4055806"/>
                  <a:gd name="connsiteY5" fmla="*/ 67597 h 1892709"/>
                  <a:gd name="connsiteX6" fmla="*/ 67597 w 4055806"/>
                  <a:gd name="connsiteY6" fmla="*/ 0 h 1892709"/>
                  <a:gd name="connsiteX7" fmla="*/ 3988210 w 4055806"/>
                  <a:gd name="connsiteY7" fmla="*/ 0 h 1892709"/>
                  <a:gd name="connsiteX8" fmla="*/ 4055807 w 4055806"/>
                  <a:gd name="connsiteY8" fmla="*/ 67597 h 1892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55806" h="1892709">
                    <a:moveTo>
                      <a:pt x="4055807" y="67597"/>
                    </a:moveTo>
                    <a:lnTo>
                      <a:pt x="4055807" y="1892710"/>
                    </a:lnTo>
                    <a:lnTo>
                      <a:pt x="2974258" y="1892710"/>
                    </a:lnTo>
                    <a:lnTo>
                      <a:pt x="1081548" y="1892710"/>
                    </a:lnTo>
                    <a:lnTo>
                      <a:pt x="0" y="1892710"/>
                    </a:lnTo>
                    <a:lnTo>
                      <a:pt x="0" y="67597"/>
                    </a:lnTo>
                    <a:cubicBezTo>
                      <a:pt x="0" y="30419"/>
                      <a:pt x="30419" y="0"/>
                      <a:pt x="67597" y="0"/>
                    </a:cubicBezTo>
                    <a:lnTo>
                      <a:pt x="3988210" y="0"/>
                    </a:lnTo>
                    <a:cubicBezTo>
                      <a:pt x="4025388" y="0"/>
                      <a:pt x="4055807" y="30419"/>
                      <a:pt x="4055807" y="67597"/>
                    </a:cubicBezTo>
                    <a:close/>
                  </a:path>
                </a:pathLst>
              </a:custGeom>
              <a:solidFill>
                <a:schemeClr val="tx1">
                  <a:alpha val="14000"/>
                </a:schemeClr>
              </a:solidFill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4" name="Freeform: Shape 31">
                <a:extLst>
                  <a:ext uri="{FF2B5EF4-FFF2-40B4-BE49-F238E27FC236}">
                    <a16:creationId xmlns:a16="http://schemas.microsoft.com/office/drawing/2014/main" xmlns="" id="{CA4BA205-1E02-3772-6B19-83664060376F}"/>
                  </a:ext>
                </a:extLst>
              </p:cNvPr>
              <p:cNvSpPr/>
              <p:nvPr/>
            </p:nvSpPr>
            <p:spPr>
              <a:xfrm>
                <a:off x="3782182" y="1936898"/>
                <a:ext cx="241398" cy="241398"/>
              </a:xfrm>
              <a:custGeom>
                <a:avLst/>
                <a:gdLst>
                  <a:gd name="connsiteX0" fmla="*/ 270387 w 270387"/>
                  <a:gd name="connsiteY0" fmla="*/ 135194 h 270387"/>
                  <a:gd name="connsiteX1" fmla="*/ 135194 w 270387"/>
                  <a:gd name="connsiteY1" fmla="*/ 270387 h 270387"/>
                  <a:gd name="connsiteX2" fmla="*/ 0 w 270387"/>
                  <a:gd name="connsiteY2" fmla="*/ 135194 h 270387"/>
                  <a:gd name="connsiteX3" fmla="*/ 135194 w 270387"/>
                  <a:gd name="connsiteY3" fmla="*/ 0 h 270387"/>
                  <a:gd name="connsiteX4" fmla="*/ 270387 w 270387"/>
                  <a:gd name="connsiteY4" fmla="*/ 135194 h 270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387" h="270387">
                    <a:moveTo>
                      <a:pt x="270387" y="135194"/>
                    </a:moveTo>
                    <a:cubicBezTo>
                      <a:pt x="270387" y="209859"/>
                      <a:pt x="209859" y="270387"/>
                      <a:pt x="135194" y="270387"/>
                    </a:cubicBezTo>
                    <a:cubicBezTo>
                      <a:pt x="60528" y="270387"/>
                      <a:pt x="0" y="209859"/>
                      <a:pt x="0" y="135194"/>
                    </a:cubicBezTo>
                    <a:cubicBezTo>
                      <a:pt x="0" y="60528"/>
                      <a:pt x="60528" y="0"/>
                      <a:pt x="135194" y="0"/>
                    </a:cubicBezTo>
                    <a:cubicBezTo>
                      <a:pt x="209859" y="0"/>
                      <a:pt x="270387" y="60528"/>
                      <a:pt x="270387" y="135194"/>
                    </a:cubicBezTo>
                    <a:close/>
                  </a:path>
                </a:pathLst>
              </a:custGeom>
              <a:solidFill>
                <a:srgbClr val="C71B34"/>
              </a:solidFill>
              <a:ln w="675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5" name="Freeform: Shape 1066">
                <a:extLst>
                  <a:ext uri="{FF2B5EF4-FFF2-40B4-BE49-F238E27FC236}">
                    <a16:creationId xmlns:a16="http://schemas.microsoft.com/office/drawing/2014/main" xmlns="" id="{D048E153-F4F8-DCDD-A10C-857552F3861F}"/>
                  </a:ext>
                </a:extLst>
              </p:cNvPr>
              <p:cNvSpPr/>
              <p:nvPr/>
            </p:nvSpPr>
            <p:spPr>
              <a:xfrm>
                <a:off x="945750" y="3445637"/>
                <a:ext cx="3017481" cy="120700"/>
              </a:xfrm>
              <a:custGeom>
                <a:avLst/>
                <a:gdLst>
                  <a:gd name="connsiteX0" fmla="*/ 2896781 w 3017481"/>
                  <a:gd name="connsiteY0" fmla="*/ 0 h 120700"/>
                  <a:gd name="connsiteX1" fmla="*/ 3017481 w 3017481"/>
                  <a:gd name="connsiteY1" fmla="*/ 0 h 120700"/>
                  <a:gd name="connsiteX2" fmla="*/ 3017481 w 3017481"/>
                  <a:gd name="connsiteY2" fmla="*/ 120700 h 120700"/>
                  <a:gd name="connsiteX3" fmla="*/ 2896781 w 3017481"/>
                  <a:gd name="connsiteY3" fmla="*/ 120700 h 120700"/>
                  <a:gd name="connsiteX4" fmla="*/ 2655383 w 3017481"/>
                  <a:gd name="connsiteY4" fmla="*/ 0 h 120700"/>
                  <a:gd name="connsiteX5" fmla="*/ 2776083 w 3017481"/>
                  <a:gd name="connsiteY5" fmla="*/ 0 h 120700"/>
                  <a:gd name="connsiteX6" fmla="*/ 2776083 w 3017481"/>
                  <a:gd name="connsiteY6" fmla="*/ 120700 h 120700"/>
                  <a:gd name="connsiteX7" fmla="*/ 2655383 w 3017481"/>
                  <a:gd name="connsiteY7" fmla="*/ 120700 h 120700"/>
                  <a:gd name="connsiteX8" fmla="*/ 241398 w 3017481"/>
                  <a:gd name="connsiteY8" fmla="*/ 0 h 120700"/>
                  <a:gd name="connsiteX9" fmla="*/ 362098 w 3017481"/>
                  <a:gd name="connsiteY9" fmla="*/ 0 h 120700"/>
                  <a:gd name="connsiteX10" fmla="*/ 362098 w 3017481"/>
                  <a:gd name="connsiteY10" fmla="*/ 120700 h 120700"/>
                  <a:gd name="connsiteX11" fmla="*/ 241398 w 3017481"/>
                  <a:gd name="connsiteY11" fmla="*/ 120700 h 120700"/>
                  <a:gd name="connsiteX12" fmla="*/ 0 w 3017481"/>
                  <a:gd name="connsiteY12" fmla="*/ 0 h 120700"/>
                  <a:gd name="connsiteX13" fmla="*/ 120700 w 3017481"/>
                  <a:gd name="connsiteY13" fmla="*/ 0 h 120700"/>
                  <a:gd name="connsiteX14" fmla="*/ 120700 w 3017481"/>
                  <a:gd name="connsiteY14" fmla="*/ 120700 h 120700"/>
                  <a:gd name="connsiteX15" fmla="*/ 0 w 3017481"/>
                  <a:gd name="connsiteY15" fmla="*/ 120700 h 1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17481" h="120700">
                    <a:moveTo>
                      <a:pt x="2896781" y="0"/>
                    </a:moveTo>
                    <a:lnTo>
                      <a:pt x="3017481" y="0"/>
                    </a:lnTo>
                    <a:lnTo>
                      <a:pt x="3017481" y="120700"/>
                    </a:lnTo>
                    <a:lnTo>
                      <a:pt x="2896781" y="120700"/>
                    </a:lnTo>
                    <a:close/>
                    <a:moveTo>
                      <a:pt x="2655383" y="0"/>
                    </a:moveTo>
                    <a:lnTo>
                      <a:pt x="2776083" y="0"/>
                    </a:lnTo>
                    <a:lnTo>
                      <a:pt x="2776083" y="120700"/>
                    </a:lnTo>
                    <a:lnTo>
                      <a:pt x="2655383" y="120700"/>
                    </a:lnTo>
                    <a:close/>
                    <a:moveTo>
                      <a:pt x="241398" y="0"/>
                    </a:moveTo>
                    <a:lnTo>
                      <a:pt x="362098" y="0"/>
                    </a:lnTo>
                    <a:lnTo>
                      <a:pt x="362098" y="120700"/>
                    </a:lnTo>
                    <a:lnTo>
                      <a:pt x="241398" y="120700"/>
                    </a:lnTo>
                    <a:close/>
                    <a:moveTo>
                      <a:pt x="0" y="0"/>
                    </a:moveTo>
                    <a:lnTo>
                      <a:pt x="120700" y="0"/>
                    </a:lnTo>
                    <a:lnTo>
                      <a:pt x="120700" y="120700"/>
                    </a:lnTo>
                    <a:lnTo>
                      <a:pt x="0" y="120700"/>
                    </a:lnTo>
                    <a:close/>
                  </a:path>
                </a:pathLst>
              </a:custGeom>
              <a:solidFill>
                <a:srgbClr val="C71B34"/>
              </a:solidFill>
              <a:ln w="675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6" name="Freeform: Shape 1065">
                <a:extLst>
                  <a:ext uri="{FF2B5EF4-FFF2-40B4-BE49-F238E27FC236}">
                    <a16:creationId xmlns:a16="http://schemas.microsoft.com/office/drawing/2014/main" xmlns="" id="{F9182546-F0CC-753D-3906-B2A70E7170A2}"/>
                  </a:ext>
                </a:extLst>
              </p:cNvPr>
              <p:cNvSpPr/>
              <p:nvPr/>
            </p:nvSpPr>
            <p:spPr>
              <a:xfrm>
                <a:off x="2032043" y="3445637"/>
                <a:ext cx="844895" cy="120700"/>
              </a:xfrm>
              <a:custGeom>
                <a:avLst/>
                <a:gdLst>
                  <a:gd name="connsiteX0" fmla="*/ 724195 w 844895"/>
                  <a:gd name="connsiteY0" fmla="*/ 0 h 120700"/>
                  <a:gd name="connsiteX1" fmla="*/ 844895 w 844895"/>
                  <a:gd name="connsiteY1" fmla="*/ 0 h 120700"/>
                  <a:gd name="connsiteX2" fmla="*/ 844895 w 844895"/>
                  <a:gd name="connsiteY2" fmla="*/ 120700 h 120700"/>
                  <a:gd name="connsiteX3" fmla="*/ 724195 w 844895"/>
                  <a:gd name="connsiteY3" fmla="*/ 120700 h 120700"/>
                  <a:gd name="connsiteX4" fmla="*/ 362098 w 844895"/>
                  <a:gd name="connsiteY4" fmla="*/ 0 h 120700"/>
                  <a:gd name="connsiteX5" fmla="*/ 482798 w 844895"/>
                  <a:gd name="connsiteY5" fmla="*/ 0 h 120700"/>
                  <a:gd name="connsiteX6" fmla="*/ 482798 w 844895"/>
                  <a:gd name="connsiteY6" fmla="*/ 120700 h 120700"/>
                  <a:gd name="connsiteX7" fmla="*/ 362098 w 844895"/>
                  <a:gd name="connsiteY7" fmla="*/ 120700 h 120700"/>
                  <a:gd name="connsiteX8" fmla="*/ 0 w 844895"/>
                  <a:gd name="connsiteY8" fmla="*/ 0 h 120700"/>
                  <a:gd name="connsiteX9" fmla="*/ 120700 w 844895"/>
                  <a:gd name="connsiteY9" fmla="*/ 0 h 120700"/>
                  <a:gd name="connsiteX10" fmla="*/ 120700 w 844895"/>
                  <a:gd name="connsiteY10" fmla="*/ 120700 h 120700"/>
                  <a:gd name="connsiteX11" fmla="*/ 0 w 844895"/>
                  <a:gd name="connsiteY11" fmla="*/ 120700 h 12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4895" h="120700">
                    <a:moveTo>
                      <a:pt x="724195" y="0"/>
                    </a:moveTo>
                    <a:lnTo>
                      <a:pt x="844895" y="0"/>
                    </a:lnTo>
                    <a:lnTo>
                      <a:pt x="844895" y="120700"/>
                    </a:lnTo>
                    <a:lnTo>
                      <a:pt x="724195" y="120700"/>
                    </a:lnTo>
                    <a:close/>
                    <a:moveTo>
                      <a:pt x="362098" y="0"/>
                    </a:moveTo>
                    <a:lnTo>
                      <a:pt x="482798" y="0"/>
                    </a:lnTo>
                    <a:lnTo>
                      <a:pt x="482798" y="120700"/>
                    </a:lnTo>
                    <a:lnTo>
                      <a:pt x="362098" y="120700"/>
                    </a:lnTo>
                    <a:close/>
                    <a:moveTo>
                      <a:pt x="0" y="0"/>
                    </a:moveTo>
                    <a:lnTo>
                      <a:pt x="120700" y="0"/>
                    </a:lnTo>
                    <a:lnTo>
                      <a:pt x="120700" y="120700"/>
                    </a:lnTo>
                    <a:lnTo>
                      <a:pt x="0" y="120700"/>
                    </a:lnTo>
                    <a:close/>
                  </a:path>
                </a:pathLst>
              </a:custGeom>
              <a:solidFill>
                <a:srgbClr val="FABE02"/>
              </a:solidFill>
              <a:ln w="675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7" name="Freeform: Shape 1067">
                <a:extLst>
                  <a:ext uri="{FF2B5EF4-FFF2-40B4-BE49-F238E27FC236}">
                    <a16:creationId xmlns:a16="http://schemas.microsoft.com/office/drawing/2014/main" xmlns="" id="{49D86325-742A-1C09-2EC0-CCEDB5BE70F9}"/>
                  </a:ext>
                </a:extLst>
              </p:cNvPr>
              <p:cNvSpPr/>
              <p:nvPr/>
            </p:nvSpPr>
            <p:spPr>
              <a:xfrm>
                <a:off x="825051" y="4049134"/>
                <a:ext cx="543147" cy="844895"/>
              </a:xfrm>
              <a:custGeom>
                <a:avLst/>
                <a:gdLst>
                  <a:gd name="connsiteX0" fmla="*/ 0 w 543147"/>
                  <a:gd name="connsiteY0" fmla="*/ 724195 h 844895"/>
                  <a:gd name="connsiteX1" fmla="*/ 543147 w 543147"/>
                  <a:gd name="connsiteY1" fmla="*/ 724195 h 844895"/>
                  <a:gd name="connsiteX2" fmla="*/ 543147 w 543147"/>
                  <a:gd name="connsiteY2" fmla="*/ 844895 h 844895"/>
                  <a:gd name="connsiteX3" fmla="*/ 0 w 543147"/>
                  <a:gd name="connsiteY3" fmla="*/ 844895 h 844895"/>
                  <a:gd name="connsiteX4" fmla="*/ 0 w 543147"/>
                  <a:gd name="connsiteY4" fmla="*/ 362098 h 844895"/>
                  <a:gd name="connsiteX5" fmla="*/ 543147 w 543147"/>
                  <a:gd name="connsiteY5" fmla="*/ 362098 h 844895"/>
                  <a:gd name="connsiteX6" fmla="*/ 543147 w 543147"/>
                  <a:gd name="connsiteY6" fmla="*/ 482798 h 844895"/>
                  <a:gd name="connsiteX7" fmla="*/ 0 w 543147"/>
                  <a:gd name="connsiteY7" fmla="*/ 482798 h 844895"/>
                  <a:gd name="connsiteX8" fmla="*/ 0 w 543147"/>
                  <a:gd name="connsiteY8" fmla="*/ 0 h 844895"/>
                  <a:gd name="connsiteX9" fmla="*/ 543147 w 543147"/>
                  <a:gd name="connsiteY9" fmla="*/ 0 h 844895"/>
                  <a:gd name="connsiteX10" fmla="*/ 543147 w 543147"/>
                  <a:gd name="connsiteY10" fmla="*/ 120700 h 844895"/>
                  <a:gd name="connsiteX11" fmla="*/ 0 w 543147"/>
                  <a:gd name="connsiteY11" fmla="*/ 120700 h 844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3147" h="844895">
                    <a:moveTo>
                      <a:pt x="0" y="724195"/>
                    </a:moveTo>
                    <a:lnTo>
                      <a:pt x="543147" y="724195"/>
                    </a:lnTo>
                    <a:lnTo>
                      <a:pt x="543147" y="844895"/>
                    </a:lnTo>
                    <a:lnTo>
                      <a:pt x="0" y="844895"/>
                    </a:lnTo>
                    <a:close/>
                    <a:moveTo>
                      <a:pt x="0" y="362098"/>
                    </a:moveTo>
                    <a:lnTo>
                      <a:pt x="543147" y="362098"/>
                    </a:lnTo>
                    <a:lnTo>
                      <a:pt x="543147" y="482798"/>
                    </a:lnTo>
                    <a:lnTo>
                      <a:pt x="0" y="482798"/>
                    </a:lnTo>
                    <a:close/>
                    <a:moveTo>
                      <a:pt x="0" y="0"/>
                    </a:moveTo>
                    <a:lnTo>
                      <a:pt x="543147" y="0"/>
                    </a:lnTo>
                    <a:lnTo>
                      <a:pt x="543147" y="120700"/>
                    </a:lnTo>
                    <a:lnTo>
                      <a:pt x="0" y="120700"/>
                    </a:lnTo>
                    <a:close/>
                  </a:path>
                </a:pathLst>
              </a:custGeom>
              <a:solidFill>
                <a:srgbClr val="FABE02"/>
              </a:solidFill>
              <a:ln w="675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sp>
            <p:nvSpPr>
              <p:cNvPr id="18" name="Freeform: Shape 1068">
                <a:extLst>
                  <a:ext uri="{FF2B5EF4-FFF2-40B4-BE49-F238E27FC236}">
                    <a16:creationId xmlns:a16="http://schemas.microsoft.com/office/drawing/2014/main" xmlns="" id="{2780AC9F-563F-99C7-C92F-CD503E67AB22}"/>
                  </a:ext>
                </a:extLst>
              </p:cNvPr>
              <p:cNvSpPr/>
              <p:nvPr/>
            </p:nvSpPr>
            <p:spPr>
              <a:xfrm>
                <a:off x="3480433" y="4049134"/>
                <a:ext cx="603496" cy="844895"/>
              </a:xfrm>
              <a:custGeom>
                <a:avLst/>
                <a:gdLst>
                  <a:gd name="connsiteX0" fmla="*/ 241398 w 603496"/>
                  <a:gd name="connsiteY0" fmla="*/ 724195 h 844895"/>
                  <a:gd name="connsiteX1" fmla="*/ 603496 w 603496"/>
                  <a:gd name="connsiteY1" fmla="*/ 724195 h 844895"/>
                  <a:gd name="connsiteX2" fmla="*/ 603496 w 603496"/>
                  <a:gd name="connsiteY2" fmla="*/ 844895 h 844895"/>
                  <a:gd name="connsiteX3" fmla="*/ 241398 w 603496"/>
                  <a:gd name="connsiteY3" fmla="*/ 844895 h 844895"/>
                  <a:gd name="connsiteX4" fmla="*/ 0 w 603496"/>
                  <a:gd name="connsiteY4" fmla="*/ 724195 h 844895"/>
                  <a:gd name="connsiteX5" fmla="*/ 120700 w 603496"/>
                  <a:gd name="connsiteY5" fmla="*/ 724195 h 844895"/>
                  <a:gd name="connsiteX6" fmla="*/ 120700 w 603496"/>
                  <a:gd name="connsiteY6" fmla="*/ 844895 h 844895"/>
                  <a:gd name="connsiteX7" fmla="*/ 0 w 603496"/>
                  <a:gd name="connsiteY7" fmla="*/ 844895 h 844895"/>
                  <a:gd name="connsiteX8" fmla="*/ 241398 w 603496"/>
                  <a:gd name="connsiteY8" fmla="*/ 362098 h 844895"/>
                  <a:gd name="connsiteX9" fmla="*/ 603496 w 603496"/>
                  <a:gd name="connsiteY9" fmla="*/ 362098 h 844895"/>
                  <a:gd name="connsiteX10" fmla="*/ 603496 w 603496"/>
                  <a:gd name="connsiteY10" fmla="*/ 482798 h 844895"/>
                  <a:gd name="connsiteX11" fmla="*/ 241398 w 603496"/>
                  <a:gd name="connsiteY11" fmla="*/ 482798 h 844895"/>
                  <a:gd name="connsiteX12" fmla="*/ 0 w 603496"/>
                  <a:gd name="connsiteY12" fmla="*/ 362098 h 844895"/>
                  <a:gd name="connsiteX13" fmla="*/ 120700 w 603496"/>
                  <a:gd name="connsiteY13" fmla="*/ 362098 h 844895"/>
                  <a:gd name="connsiteX14" fmla="*/ 120700 w 603496"/>
                  <a:gd name="connsiteY14" fmla="*/ 482798 h 844895"/>
                  <a:gd name="connsiteX15" fmla="*/ 0 w 603496"/>
                  <a:gd name="connsiteY15" fmla="*/ 482798 h 844895"/>
                  <a:gd name="connsiteX16" fmla="*/ 241398 w 603496"/>
                  <a:gd name="connsiteY16" fmla="*/ 0 h 844895"/>
                  <a:gd name="connsiteX17" fmla="*/ 603496 w 603496"/>
                  <a:gd name="connsiteY17" fmla="*/ 0 h 844895"/>
                  <a:gd name="connsiteX18" fmla="*/ 603496 w 603496"/>
                  <a:gd name="connsiteY18" fmla="*/ 120700 h 844895"/>
                  <a:gd name="connsiteX19" fmla="*/ 241398 w 603496"/>
                  <a:gd name="connsiteY19" fmla="*/ 120700 h 844895"/>
                  <a:gd name="connsiteX20" fmla="*/ 0 w 603496"/>
                  <a:gd name="connsiteY20" fmla="*/ 0 h 844895"/>
                  <a:gd name="connsiteX21" fmla="*/ 120700 w 603496"/>
                  <a:gd name="connsiteY21" fmla="*/ 0 h 844895"/>
                  <a:gd name="connsiteX22" fmla="*/ 120700 w 603496"/>
                  <a:gd name="connsiteY22" fmla="*/ 120700 h 844895"/>
                  <a:gd name="connsiteX23" fmla="*/ 0 w 603496"/>
                  <a:gd name="connsiteY23" fmla="*/ 120700 h 844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3496" h="844895">
                    <a:moveTo>
                      <a:pt x="241398" y="724195"/>
                    </a:moveTo>
                    <a:lnTo>
                      <a:pt x="603496" y="724195"/>
                    </a:lnTo>
                    <a:lnTo>
                      <a:pt x="603496" y="844895"/>
                    </a:lnTo>
                    <a:lnTo>
                      <a:pt x="241398" y="844895"/>
                    </a:lnTo>
                    <a:close/>
                    <a:moveTo>
                      <a:pt x="0" y="724195"/>
                    </a:moveTo>
                    <a:lnTo>
                      <a:pt x="120700" y="724195"/>
                    </a:lnTo>
                    <a:lnTo>
                      <a:pt x="120700" y="844895"/>
                    </a:lnTo>
                    <a:lnTo>
                      <a:pt x="0" y="844895"/>
                    </a:lnTo>
                    <a:close/>
                    <a:moveTo>
                      <a:pt x="241398" y="362098"/>
                    </a:moveTo>
                    <a:lnTo>
                      <a:pt x="603496" y="362098"/>
                    </a:lnTo>
                    <a:lnTo>
                      <a:pt x="603496" y="482798"/>
                    </a:lnTo>
                    <a:lnTo>
                      <a:pt x="241398" y="482798"/>
                    </a:lnTo>
                    <a:close/>
                    <a:moveTo>
                      <a:pt x="0" y="362098"/>
                    </a:moveTo>
                    <a:lnTo>
                      <a:pt x="120700" y="362098"/>
                    </a:lnTo>
                    <a:lnTo>
                      <a:pt x="120700" y="482798"/>
                    </a:lnTo>
                    <a:lnTo>
                      <a:pt x="0" y="482798"/>
                    </a:lnTo>
                    <a:close/>
                    <a:moveTo>
                      <a:pt x="241398" y="0"/>
                    </a:moveTo>
                    <a:lnTo>
                      <a:pt x="603496" y="0"/>
                    </a:lnTo>
                    <a:lnTo>
                      <a:pt x="603496" y="120700"/>
                    </a:lnTo>
                    <a:lnTo>
                      <a:pt x="241398" y="120700"/>
                    </a:lnTo>
                    <a:close/>
                    <a:moveTo>
                      <a:pt x="0" y="0"/>
                    </a:moveTo>
                    <a:lnTo>
                      <a:pt x="120700" y="0"/>
                    </a:lnTo>
                    <a:lnTo>
                      <a:pt x="120700" y="120700"/>
                    </a:lnTo>
                    <a:lnTo>
                      <a:pt x="0" y="120700"/>
                    </a:lnTo>
                    <a:close/>
                  </a:path>
                </a:pathLst>
              </a:custGeom>
              <a:solidFill>
                <a:srgbClr val="0E1B38"/>
              </a:solidFill>
              <a:ln w="675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77" dirty="0">
                  <a:latin typeface="Quicksand" pitchFamily="2" charset="0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xmlns="" id="{1FD4B9D1-5CFD-0610-8973-22393136028E}"/>
                  </a:ext>
                </a:extLst>
              </p:cNvPr>
              <p:cNvGrpSpPr/>
              <p:nvPr/>
            </p:nvGrpSpPr>
            <p:grpSpPr>
              <a:xfrm>
                <a:off x="2756237" y="1997248"/>
                <a:ext cx="1327694" cy="965593"/>
                <a:chOff x="2756237" y="1997248"/>
                <a:chExt cx="1327694" cy="965593"/>
              </a:xfrm>
            </p:grpSpPr>
            <p:sp>
              <p:nvSpPr>
                <p:cNvPr id="25" name="Freeform: Shape 1062">
                  <a:extLst>
                    <a:ext uri="{FF2B5EF4-FFF2-40B4-BE49-F238E27FC236}">
                      <a16:creationId xmlns:a16="http://schemas.microsoft.com/office/drawing/2014/main" xmlns="" id="{03207A9B-63E5-77D0-7A4A-354784F0AF2D}"/>
                    </a:ext>
                  </a:extLst>
                </p:cNvPr>
                <p:cNvSpPr/>
                <p:nvPr/>
              </p:nvSpPr>
              <p:spPr>
                <a:xfrm>
                  <a:off x="2756237" y="1997248"/>
                  <a:ext cx="844896" cy="844895"/>
                </a:xfrm>
                <a:custGeom>
                  <a:avLst/>
                  <a:gdLst>
                    <a:gd name="connsiteX0" fmla="*/ 603498 w 844896"/>
                    <a:gd name="connsiteY0" fmla="*/ 120700 h 844895"/>
                    <a:gd name="connsiteX1" fmla="*/ 603498 w 844896"/>
                    <a:gd name="connsiteY1" fmla="*/ 724195 h 844895"/>
                    <a:gd name="connsiteX2" fmla="*/ 724196 w 844896"/>
                    <a:gd name="connsiteY2" fmla="*/ 724195 h 844895"/>
                    <a:gd name="connsiteX3" fmla="*/ 724196 w 844896"/>
                    <a:gd name="connsiteY3" fmla="*/ 120700 h 844895"/>
                    <a:gd name="connsiteX4" fmla="*/ 482798 w 844896"/>
                    <a:gd name="connsiteY4" fmla="*/ 0 h 844895"/>
                    <a:gd name="connsiteX5" fmla="*/ 844896 w 844896"/>
                    <a:gd name="connsiteY5" fmla="*/ 0 h 844895"/>
                    <a:gd name="connsiteX6" fmla="*/ 844896 w 844896"/>
                    <a:gd name="connsiteY6" fmla="*/ 844895 h 844895"/>
                    <a:gd name="connsiteX7" fmla="*/ 482798 w 844896"/>
                    <a:gd name="connsiteY7" fmla="*/ 844895 h 844895"/>
                    <a:gd name="connsiteX8" fmla="*/ 0 w 844896"/>
                    <a:gd name="connsiteY8" fmla="*/ 0 h 844895"/>
                    <a:gd name="connsiteX9" fmla="*/ 362098 w 844896"/>
                    <a:gd name="connsiteY9" fmla="*/ 0 h 844895"/>
                    <a:gd name="connsiteX10" fmla="*/ 362098 w 844896"/>
                    <a:gd name="connsiteY10" fmla="*/ 482797 h 844895"/>
                    <a:gd name="connsiteX11" fmla="*/ 120699 w 844896"/>
                    <a:gd name="connsiteY11" fmla="*/ 482797 h 844895"/>
                    <a:gd name="connsiteX12" fmla="*/ 120699 w 844896"/>
                    <a:gd name="connsiteY12" fmla="*/ 724195 h 844895"/>
                    <a:gd name="connsiteX13" fmla="*/ 241398 w 844896"/>
                    <a:gd name="connsiteY13" fmla="*/ 724195 h 844895"/>
                    <a:gd name="connsiteX14" fmla="*/ 241398 w 844896"/>
                    <a:gd name="connsiteY14" fmla="*/ 603497 h 844895"/>
                    <a:gd name="connsiteX15" fmla="*/ 362098 w 844896"/>
                    <a:gd name="connsiteY15" fmla="*/ 603497 h 844895"/>
                    <a:gd name="connsiteX16" fmla="*/ 362098 w 844896"/>
                    <a:gd name="connsiteY16" fmla="*/ 844895 h 844895"/>
                    <a:gd name="connsiteX17" fmla="*/ 0 w 844896"/>
                    <a:gd name="connsiteY17" fmla="*/ 844895 h 844895"/>
                    <a:gd name="connsiteX18" fmla="*/ 0 w 844896"/>
                    <a:gd name="connsiteY18" fmla="*/ 362098 h 844895"/>
                    <a:gd name="connsiteX19" fmla="*/ 241398 w 844896"/>
                    <a:gd name="connsiteY19" fmla="*/ 362098 h 844895"/>
                    <a:gd name="connsiteX20" fmla="*/ 241398 w 844896"/>
                    <a:gd name="connsiteY20" fmla="*/ 120700 h 844895"/>
                    <a:gd name="connsiteX21" fmla="*/ 120699 w 844896"/>
                    <a:gd name="connsiteY21" fmla="*/ 120700 h 844895"/>
                    <a:gd name="connsiteX22" fmla="*/ 120699 w 844896"/>
                    <a:gd name="connsiteY22" fmla="*/ 241399 h 844895"/>
                    <a:gd name="connsiteX23" fmla="*/ 0 w 844896"/>
                    <a:gd name="connsiteY23" fmla="*/ 241399 h 844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44896" h="844895">
                      <a:moveTo>
                        <a:pt x="603498" y="120700"/>
                      </a:moveTo>
                      <a:lnTo>
                        <a:pt x="603498" y="724195"/>
                      </a:lnTo>
                      <a:lnTo>
                        <a:pt x="724196" y="724195"/>
                      </a:lnTo>
                      <a:lnTo>
                        <a:pt x="724196" y="120700"/>
                      </a:lnTo>
                      <a:close/>
                      <a:moveTo>
                        <a:pt x="482798" y="0"/>
                      </a:moveTo>
                      <a:lnTo>
                        <a:pt x="844896" y="0"/>
                      </a:lnTo>
                      <a:lnTo>
                        <a:pt x="844896" y="844895"/>
                      </a:lnTo>
                      <a:lnTo>
                        <a:pt x="482798" y="844895"/>
                      </a:lnTo>
                      <a:close/>
                      <a:moveTo>
                        <a:pt x="0" y="0"/>
                      </a:moveTo>
                      <a:lnTo>
                        <a:pt x="362098" y="0"/>
                      </a:lnTo>
                      <a:lnTo>
                        <a:pt x="362098" y="482797"/>
                      </a:lnTo>
                      <a:lnTo>
                        <a:pt x="120699" y="482797"/>
                      </a:lnTo>
                      <a:lnTo>
                        <a:pt x="120699" y="724195"/>
                      </a:lnTo>
                      <a:lnTo>
                        <a:pt x="241398" y="724195"/>
                      </a:lnTo>
                      <a:lnTo>
                        <a:pt x="241398" y="603497"/>
                      </a:lnTo>
                      <a:lnTo>
                        <a:pt x="362098" y="603497"/>
                      </a:lnTo>
                      <a:lnTo>
                        <a:pt x="362098" y="844895"/>
                      </a:lnTo>
                      <a:lnTo>
                        <a:pt x="0" y="844895"/>
                      </a:lnTo>
                      <a:lnTo>
                        <a:pt x="0" y="362098"/>
                      </a:lnTo>
                      <a:lnTo>
                        <a:pt x="241398" y="362098"/>
                      </a:lnTo>
                      <a:lnTo>
                        <a:pt x="241398" y="120700"/>
                      </a:lnTo>
                      <a:lnTo>
                        <a:pt x="120699" y="120700"/>
                      </a:lnTo>
                      <a:lnTo>
                        <a:pt x="120699" y="241399"/>
                      </a:lnTo>
                      <a:lnTo>
                        <a:pt x="0" y="24139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75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77" dirty="0">
                    <a:latin typeface="Quicksand" pitchFamily="2" charset="0"/>
                  </a:endParaRPr>
                </a:p>
              </p:txBody>
            </p:sp>
            <p:sp>
              <p:nvSpPr>
                <p:cNvPr id="26" name="Freeform: Shape 1063">
                  <a:extLst>
                    <a:ext uri="{FF2B5EF4-FFF2-40B4-BE49-F238E27FC236}">
                      <a16:creationId xmlns:a16="http://schemas.microsoft.com/office/drawing/2014/main" xmlns="" id="{BF937295-461A-4113-29E2-FC34D56A6E78}"/>
                    </a:ext>
                  </a:extLst>
                </p:cNvPr>
                <p:cNvSpPr/>
                <p:nvPr/>
              </p:nvSpPr>
              <p:spPr>
                <a:xfrm>
                  <a:off x="3721832" y="2842141"/>
                  <a:ext cx="362099" cy="120700"/>
                </a:xfrm>
                <a:custGeom>
                  <a:avLst/>
                  <a:gdLst>
                    <a:gd name="connsiteX0" fmla="*/ 241399 w 362099"/>
                    <a:gd name="connsiteY0" fmla="*/ 0 h 120700"/>
                    <a:gd name="connsiteX1" fmla="*/ 362099 w 362099"/>
                    <a:gd name="connsiteY1" fmla="*/ 0 h 120700"/>
                    <a:gd name="connsiteX2" fmla="*/ 362099 w 362099"/>
                    <a:gd name="connsiteY2" fmla="*/ 120700 h 120700"/>
                    <a:gd name="connsiteX3" fmla="*/ 241399 w 362099"/>
                    <a:gd name="connsiteY3" fmla="*/ 120700 h 120700"/>
                    <a:gd name="connsiteX4" fmla="*/ 0 w 362099"/>
                    <a:gd name="connsiteY4" fmla="*/ 0 h 120700"/>
                    <a:gd name="connsiteX5" fmla="*/ 120700 w 362099"/>
                    <a:gd name="connsiteY5" fmla="*/ 0 h 120700"/>
                    <a:gd name="connsiteX6" fmla="*/ 120700 w 362099"/>
                    <a:gd name="connsiteY6" fmla="*/ 120700 h 120700"/>
                    <a:gd name="connsiteX7" fmla="*/ 0 w 362099"/>
                    <a:gd name="connsiteY7" fmla="*/ 120700 h 120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62099" h="120700">
                      <a:moveTo>
                        <a:pt x="241399" y="0"/>
                      </a:moveTo>
                      <a:lnTo>
                        <a:pt x="362099" y="0"/>
                      </a:lnTo>
                      <a:lnTo>
                        <a:pt x="362099" y="120700"/>
                      </a:lnTo>
                      <a:lnTo>
                        <a:pt x="241399" y="120700"/>
                      </a:lnTo>
                      <a:close/>
                      <a:moveTo>
                        <a:pt x="0" y="0"/>
                      </a:moveTo>
                      <a:lnTo>
                        <a:pt x="120700" y="0"/>
                      </a:lnTo>
                      <a:lnTo>
                        <a:pt x="120700" y="120700"/>
                      </a:lnTo>
                      <a:lnTo>
                        <a:pt x="0" y="1207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75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77" dirty="0">
                    <a:latin typeface="Quicksand" pitchFamily="2" charset="0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xmlns="" id="{AB81837D-69AB-DDB0-B654-F802F6EE0581}"/>
                  </a:ext>
                </a:extLst>
              </p:cNvPr>
              <p:cNvGrpSpPr/>
              <p:nvPr/>
            </p:nvGrpSpPr>
            <p:grpSpPr>
              <a:xfrm>
                <a:off x="863860" y="1816198"/>
                <a:ext cx="1572338" cy="1235216"/>
                <a:chOff x="863860" y="1816198"/>
                <a:chExt cx="1572338" cy="1235216"/>
              </a:xfrm>
            </p:grpSpPr>
            <p:sp>
              <p:nvSpPr>
                <p:cNvPr id="21" name="Freeform: Shape 32">
                  <a:extLst>
                    <a:ext uri="{FF2B5EF4-FFF2-40B4-BE49-F238E27FC236}">
                      <a16:creationId xmlns:a16="http://schemas.microsoft.com/office/drawing/2014/main" xmlns="" id="{B017821B-B130-72DA-EA43-8009A6F87B96}"/>
                    </a:ext>
                  </a:extLst>
                </p:cNvPr>
                <p:cNvSpPr/>
                <p:nvPr/>
              </p:nvSpPr>
              <p:spPr>
                <a:xfrm>
                  <a:off x="885400" y="1816198"/>
                  <a:ext cx="706090" cy="649362"/>
                </a:xfrm>
                <a:custGeom>
                  <a:avLst/>
                  <a:gdLst>
                    <a:gd name="connsiteX0" fmla="*/ 405581 w 790882"/>
                    <a:gd name="connsiteY0" fmla="*/ 0 h 727341"/>
                    <a:gd name="connsiteX1" fmla="*/ 790882 w 790882"/>
                    <a:gd name="connsiteY1" fmla="*/ 278499 h 727341"/>
                    <a:gd name="connsiteX2" fmla="*/ 409636 w 790882"/>
                    <a:gd name="connsiteY2" fmla="*/ 684079 h 727341"/>
                    <a:gd name="connsiteX3" fmla="*/ 337984 w 790882"/>
                    <a:gd name="connsiteY3" fmla="*/ 675968 h 727341"/>
                    <a:gd name="connsiteX4" fmla="*/ 158852 w 790882"/>
                    <a:gd name="connsiteY4" fmla="*/ 727341 h 727341"/>
                    <a:gd name="connsiteX5" fmla="*/ 0 w 790882"/>
                    <a:gd name="connsiteY5" fmla="*/ 405581 h 727341"/>
                    <a:gd name="connsiteX6" fmla="*/ 405581 w 790882"/>
                    <a:gd name="connsiteY6" fmla="*/ 0 h 727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90882" h="727341">
                      <a:moveTo>
                        <a:pt x="405581" y="0"/>
                      </a:moveTo>
                      <a:cubicBezTo>
                        <a:pt x="585388" y="0"/>
                        <a:pt x="737481" y="116942"/>
                        <a:pt x="790882" y="278499"/>
                      </a:cubicBezTo>
                      <a:cubicBezTo>
                        <a:pt x="590796" y="316353"/>
                        <a:pt x="435323" y="479937"/>
                        <a:pt x="409636" y="684079"/>
                      </a:cubicBezTo>
                      <a:cubicBezTo>
                        <a:pt x="386654" y="678672"/>
                        <a:pt x="362319" y="675968"/>
                        <a:pt x="337984" y="675968"/>
                      </a:cubicBezTo>
                      <a:cubicBezTo>
                        <a:pt x="272415" y="675968"/>
                        <a:pt x="210902" y="694895"/>
                        <a:pt x="158852" y="727341"/>
                      </a:cubicBezTo>
                      <a:cubicBezTo>
                        <a:pt x="62189" y="652985"/>
                        <a:pt x="0" y="536718"/>
                        <a:pt x="0" y="405581"/>
                      </a:cubicBezTo>
                      <a:cubicBezTo>
                        <a:pt x="0" y="181835"/>
                        <a:pt x="181835" y="0"/>
                        <a:pt x="405581" y="0"/>
                      </a:cubicBezTo>
                      <a:close/>
                    </a:path>
                  </a:pathLst>
                </a:custGeom>
                <a:solidFill>
                  <a:srgbClr val="FABE02"/>
                </a:solidFill>
                <a:ln w="6759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77" dirty="0">
                    <a:latin typeface="Quicksand" pitchFamily="2" charset="0"/>
                  </a:endParaRPr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xmlns="" id="{CD882FA0-2F95-C8D6-87AC-528A3E0A20D8}"/>
                    </a:ext>
                  </a:extLst>
                </p:cNvPr>
                <p:cNvGrpSpPr/>
                <p:nvPr/>
              </p:nvGrpSpPr>
              <p:grpSpPr>
                <a:xfrm>
                  <a:off x="863860" y="2016663"/>
                  <a:ext cx="1572338" cy="1034751"/>
                  <a:chOff x="863860" y="2016663"/>
                  <a:chExt cx="1572338" cy="1034751"/>
                </a:xfrm>
              </p:grpSpPr>
              <p:sp>
                <p:nvSpPr>
                  <p:cNvPr id="23" name="Freeform: Shape 1058">
                    <a:extLst>
                      <a:ext uri="{FF2B5EF4-FFF2-40B4-BE49-F238E27FC236}">
                        <a16:creationId xmlns:a16="http://schemas.microsoft.com/office/drawing/2014/main" xmlns="" id="{F7640DF0-5C92-D19E-3EB9-62B0F401FFE8}"/>
                      </a:ext>
                    </a:extLst>
                  </p:cNvPr>
                  <p:cNvSpPr/>
                  <p:nvPr/>
                </p:nvSpPr>
                <p:spPr>
                  <a:xfrm>
                    <a:off x="863860" y="2016663"/>
                    <a:ext cx="1572338" cy="1034742"/>
                  </a:xfrm>
                  <a:custGeom>
                    <a:avLst/>
                    <a:gdLst>
                      <a:gd name="connsiteX0" fmla="*/ 804759 w 1572338"/>
                      <a:gd name="connsiteY0" fmla="*/ 0 h 1034742"/>
                      <a:gd name="connsiteX1" fmla="*/ 1200713 w 1572338"/>
                      <a:gd name="connsiteY1" fmla="*/ 267477 h 1034742"/>
                      <a:gd name="connsiteX2" fmla="*/ 1572338 w 1572338"/>
                      <a:gd name="connsiteY2" fmla="*/ 650961 h 1034742"/>
                      <a:gd name="connsiteX3" fmla="*/ 1231575 w 1572338"/>
                      <a:gd name="connsiteY3" fmla="*/ 1032280 h 1034742"/>
                      <a:gd name="connsiteX4" fmla="*/ 1231575 w 1572338"/>
                      <a:gd name="connsiteY4" fmla="*/ 1034742 h 1034742"/>
                      <a:gd name="connsiteX5" fmla="*/ 336626 w 1572338"/>
                      <a:gd name="connsiteY5" fmla="*/ 1034742 h 1034742"/>
                      <a:gd name="connsiteX6" fmla="*/ 0 w 1572338"/>
                      <a:gd name="connsiteY6" fmla="*/ 698116 h 1034742"/>
                      <a:gd name="connsiteX7" fmla="*/ 336626 w 1572338"/>
                      <a:gd name="connsiteY7" fmla="*/ 361491 h 1034742"/>
                      <a:gd name="connsiteX8" fmla="*/ 382921 w 1572338"/>
                      <a:gd name="connsiteY8" fmla="*/ 361491 h 1034742"/>
                      <a:gd name="connsiteX9" fmla="*/ 804759 w 1572338"/>
                      <a:gd name="connsiteY9" fmla="*/ 0 h 1034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572338" h="1034742">
                        <a:moveTo>
                          <a:pt x="804759" y="0"/>
                        </a:moveTo>
                        <a:cubicBezTo>
                          <a:pt x="984142" y="0"/>
                          <a:pt x="1137560" y="110708"/>
                          <a:pt x="1200713" y="267477"/>
                        </a:cubicBezTo>
                        <a:cubicBezTo>
                          <a:pt x="1407034" y="273917"/>
                          <a:pt x="1572338" y="443076"/>
                          <a:pt x="1572338" y="650961"/>
                        </a:cubicBezTo>
                        <a:cubicBezTo>
                          <a:pt x="1572338" y="848367"/>
                          <a:pt x="1423274" y="1010887"/>
                          <a:pt x="1231575" y="1032280"/>
                        </a:cubicBezTo>
                        <a:lnTo>
                          <a:pt x="1231575" y="1034742"/>
                        </a:lnTo>
                        <a:lnTo>
                          <a:pt x="336626" y="1034742"/>
                        </a:lnTo>
                        <a:cubicBezTo>
                          <a:pt x="150716" y="1034742"/>
                          <a:pt x="0" y="884026"/>
                          <a:pt x="0" y="698116"/>
                        </a:cubicBezTo>
                        <a:cubicBezTo>
                          <a:pt x="0" y="512204"/>
                          <a:pt x="150716" y="361491"/>
                          <a:pt x="336626" y="361491"/>
                        </a:cubicBezTo>
                        <a:lnTo>
                          <a:pt x="382921" y="361491"/>
                        </a:lnTo>
                        <a:cubicBezTo>
                          <a:pt x="414356" y="156777"/>
                          <a:pt x="591244" y="0"/>
                          <a:pt x="804759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2177" dirty="0">
                      <a:latin typeface="Quicksand" pitchFamily="2" charset="0"/>
                    </a:endParaRPr>
                  </a:p>
                </p:txBody>
              </p:sp>
              <p:sp>
                <p:nvSpPr>
                  <p:cNvPr id="24" name="Freeform: Shape 1059">
                    <a:extLst>
                      <a:ext uri="{FF2B5EF4-FFF2-40B4-BE49-F238E27FC236}">
                        <a16:creationId xmlns:a16="http://schemas.microsoft.com/office/drawing/2014/main" xmlns="" id="{A8D82C1C-D564-82CB-3396-A5CDCE2CEA7D}"/>
                      </a:ext>
                    </a:extLst>
                  </p:cNvPr>
                  <p:cNvSpPr/>
                  <p:nvPr/>
                </p:nvSpPr>
                <p:spPr>
                  <a:xfrm>
                    <a:off x="863860" y="2016672"/>
                    <a:ext cx="934047" cy="1034742"/>
                  </a:xfrm>
                  <a:custGeom>
                    <a:avLst/>
                    <a:gdLst>
                      <a:gd name="connsiteX0" fmla="*/ 222018 w 802576"/>
                      <a:gd name="connsiteY0" fmla="*/ 599856 h 889101"/>
                      <a:gd name="connsiteX1" fmla="*/ 511264 w 802576"/>
                      <a:gd name="connsiteY1" fmla="*/ 310610 h 889101"/>
                      <a:gd name="connsiteX2" fmla="*/ 551041 w 802576"/>
                      <a:gd name="connsiteY2" fmla="*/ 310610 h 889101"/>
                      <a:gd name="connsiteX3" fmla="*/ 802577 w 802576"/>
                      <a:gd name="connsiteY3" fmla="*/ 17145 h 889101"/>
                      <a:gd name="connsiteX4" fmla="*/ 691487 w 802576"/>
                      <a:gd name="connsiteY4" fmla="*/ 0 h 889101"/>
                      <a:gd name="connsiteX5" fmla="*/ 329022 w 802576"/>
                      <a:gd name="connsiteY5" fmla="*/ 310610 h 889101"/>
                      <a:gd name="connsiteX6" fmla="*/ 289246 w 802576"/>
                      <a:gd name="connsiteY6" fmla="*/ 310610 h 889101"/>
                      <a:gd name="connsiteX7" fmla="*/ 0 w 802576"/>
                      <a:gd name="connsiteY7" fmla="*/ 599856 h 889101"/>
                      <a:gd name="connsiteX8" fmla="*/ 289246 w 802576"/>
                      <a:gd name="connsiteY8" fmla="*/ 889102 h 889101"/>
                      <a:gd name="connsiteX9" fmla="*/ 511264 w 802576"/>
                      <a:gd name="connsiteY9" fmla="*/ 889102 h 889101"/>
                      <a:gd name="connsiteX10" fmla="*/ 222018 w 802576"/>
                      <a:gd name="connsiteY10" fmla="*/ 599856 h 8891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802576" h="889101">
                        <a:moveTo>
                          <a:pt x="222018" y="599856"/>
                        </a:moveTo>
                        <a:cubicBezTo>
                          <a:pt x="222018" y="440112"/>
                          <a:pt x="351520" y="310610"/>
                          <a:pt x="511264" y="310610"/>
                        </a:cubicBezTo>
                        <a:lnTo>
                          <a:pt x="551041" y="310610"/>
                        </a:lnTo>
                        <a:cubicBezTo>
                          <a:pt x="572357" y="171793"/>
                          <a:pt x="671541" y="58684"/>
                          <a:pt x="802577" y="17145"/>
                        </a:cubicBezTo>
                        <a:cubicBezTo>
                          <a:pt x="767544" y="6010"/>
                          <a:pt x="730225" y="0"/>
                          <a:pt x="691487" y="0"/>
                        </a:cubicBezTo>
                        <a:cubicBezTo>
                          <a:pt x="508025" y="0"/>
                          <a:pt x="356035" y="134712"/>
                          <a:pt x="329022" y="310610"/>
                        </a:cubicBezTo>
                        <a:lnTo>
                          <a:pt x="289246" y="310610"/>
                        </a:lnTo>
                        <a:cubicBezTo>
                          <a:pt x="129502" y="310610"/>
                          <a:pt x="0" y="440112"/>
                          <a:pt x="0" y="599856"/>
                        </a:cubicBezTo>
                        <a:cubicBezTo>
                          <a:pt x="0" y="759600"/>
                          <a:pt x="129502" y="889102"/>
                          <a:pt x="289246" y="889102"/>
                        </a:cubicBezTo>
                        <a:lnTo>
                          <a:pt x="511264" y="889102"/>
                        </a:lnTo>
                        <a:cubicBezTo>
                          <a:pt x="351520" y="889102"/>
                          <a:pt x="222018" y="759600"/>
                          <a:pt x="222018" y="599856"/>
                        </a:cubicBezTo>
                        <a:close/>
                      </a:path>
                    </a:pathLst>
                  </a:custGeom>
                  <a:solidFill>
                    <a:schemeClr val="bg2">
                      <a:lumMod val="9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2177" dirty="0">
                      <a:latin typeface="Quicksand" pitchFamily="2" charset="0"/>
                    </a:endParaRPr>
                  </a:p>
                </p:txBody>
              </p:sp>
            </p:grp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581E56AB-09F5-0D32-E1F7-E1D27B961E39}"/>
                </a:ext>
              </a:extLst>
            </p:cNvPr>
            <p:cNvGrpSpPr/>
            <p:nvPr/>
          </p:nvGrpSpPr>
          <p:grpSpPr>
            <a:xfrm>
              <a:off x="4433846" y="1219043"/>
              <a:ext cx="4226291" cy="3017251"/>
              <a:chOff x="4748189" y="1413817"/>
              <a:chExt cx="3620071" cy="258445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FE339604-2D3B-4403-2D48-4562CE36EBD1}"/>
                  </a:ext>
                </a:extLst>
              </p:cNvPr>
              <p:cNvSpPr txBox="1"/>
              <p:nvPr/>
            </p:nvSpPr>
            <p:spPr>
              <a:xfrm>
                <a:off x="4748189" y="2087205"/>
                <a:ext cx="3544317" cy="191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Quicksand Medium" pitchFamily="2" charset="0"/>
                  </a:rPr>
                  <a:t>Weather forecasting is the scientific process of predicting the future state of the atmosphere for a specific place and time. It helps us know whether it will rain, be sunny, cloudy, windy, or stormy in the coming hours or days</a:t>
                </a:r>
                <a:r>
                  <a:rPr lang="en-US" sz="2419" dirty="0">
                    <a:latin typeface="Quicksand Medium" pitchFamily="2" charset="0"/>
                  </a:rPr>
                  <a:t>.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6A0258C5-ADA8-EC4B-369F-18C75B19BB15}"/>
                  </a:ext>
                </a:extLst>
              </p:cNvPr>
              <p:cNvSpPr txBox="1"/>
              <p:nvPr/>
            </p:nvSpPr>
            <p:spPr>
              <a:xfrm>
                <a:off x="4748190" y="1413817"/>
                <a:ext cx="3620070" cy="645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5321" dirty="0">
                    <a:latin typeface="Quicksand" pitchFamily="2" charset="0"/>
                  </a:rPr>
                  <a:t>Introduction</a:t>
                </a:r>
              </a:p>
            </p:txBody>
          </p:sp>
        </p:grpSp>
      </p:grpSp>
      <p:sp>
        <p:nvSpPr>
          <p:cNvPr id="3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43BA28D-14DE-4C8A-BF99-77828FC2ECE5}" type="datetime1">
              <a:rPr lang="en-US" smtClean="0"/>
              <a:t>12/4/2025</a:t>
            </a:fld>
            <a:endParaRPr lang="en-US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EC1AE5-A1DE-415B-8CD1-7E08D07E9000}" type="slidenum">
              <a:rPr lang="en-US" smtClean="0"/>
              <a:t>2</a:t>
            </a:fld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156434" y="1258054"/>
            <a:ext cx="1216152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196324" y="12817"/>
            <a:ext cx="6785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000000"/>
                </a:solidFill>
                <a:latin typeface="Arial"/>
              </a:rPr>
              <a:t>Understanding the Science Behind Predicting Weather</a:t>
            </a:r>
          </a:p>
          <a:p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7708" y="1202724"/>
            <a:ext cx="11648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2400" dirty="0">
              <a:latin typeface="Baskerville Old Face" panose="02020602080505020303" pitchFamily="18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4FB98DB4-6BE1-4A33-B690-6B4C560DF5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43" y="149706"/>
            <a:ext cx="1067883" cy="1080682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DCD08E72-E4A7-49E0-82DC-0234EB22A6BE}"/>
              </a:ext>
            </a:extLst>
          </p:cNvPr>
          <p:cNvCxnSpPr/>
          <p:nvPr/>
        </p:nvCxnSpPr>
        <p:spPr>
          <a:xfrm>
            <a:off x="1413856" y="147385"/>
            <a:ext cx="0" cy="1044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25" y="142529"/>
            <a:ext cx="1046245" cy="1060195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499" y="12817"/>
            <a:ext cx="1992122" cy="53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 dirty="0">
                <a:solidFill>
                  <a:srgbClr val="000000"/>
                </a:solidFill>
                <a:latin typeface="Arial"/>
              </a:rPr>
              <a:t>History of Weather Forecasting</a:t>
            </a:r>
            <a:endParaRPr lang="en-IN" sz="3386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871422" y="1305724"/>
            <a:ext cx="10884223" cy="3918477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Ancient methods: observing clouds, wind, stars.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19th century: Telegraph and barometer-based predictions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Modern era: Satellite imagery and computer models</a:t>
            </a:r>
          </a:p>
          <a:p>
            <a:pPr marL="130615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903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2014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>
                <a:solidFill>
                  <a:srgbClr val="000000"/>
                </a:solidFill>
                <a:latin typeface="Arial"/>
              </a:rPr>
              <a:t>Elements of Weather</a:t>
            </a: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Autofit/>
          </a:bodyPr>
          <a:lstStyle/>
          <a:p>
            <a:pPr marL="545318" indent="-414703" algn="just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latin typeface="Arial"/>
              </a:rPr>
              <a:t>Temperature</a:t>
            </a:r>
          </a:p>
          <a:p>
            <a:pPr marL="545318" indent="-414703" algn="just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IN" sz="2400" dirty="0">
                <a:latin typeface="Arial"/>
              </a:rPr>
              <a:t>Humidity</a:t>
            </a:r>
          </a:p>
          <a:p>
            <a:pPr marL="545318" indent="-414703" algn="just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latin typeface="Arial"/>
              </a:rPr>
              <a:t>Precipitation (rain, snow, hail)</a:t>
            </a:r>
          </a:p>
          <a:p>
            <a:pPr marL="545318" indent="-414703" algn="just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latin typeface="Arial"/>
              </a:rPr>
              <a:t>Wind speed and direction</a:t>
            </a:r>
          </a:p>
          <a:p>
            <a:pPr marL="545318" indent="-414703" algn="just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latin typeface="Arial"/>
              </a:rPr>
              <a:t>Atmospheric pressure</a:t>
            </a:r>
          </a:p>
          <a:p>
            <a:pPr marL="545318" indent="-414703" algn="just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 smtClean="0">
                <a:latin typeface="Arial"/>
              </a:rPr>
              <a:t>Cloud cover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 smtClean="0">
              <a:latin typeface="Arial"/>
            </a:endParaRP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latin typeface="Arial"/>
            </a:endParaRP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Clr>
                <a:srgbClr val="FFFFFF"/>
              </a:buClr>
              <a:buSzPct val="45000"/>
              <a:buFont typeface="Wingdings" pitchFamily="2" charset="2"/>
              <a:buChar char="Ø"/>
              <a:tabLst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latin typeface="Arial"/>
            </a:endParaRPr>
          </a:p>
          <a:p>
            <a:pPr marL="522025" indent="-391410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615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>
                <a:solidFill>
                  <a:srgbClr val="000000"/>
                </a:solidFill>
                <a:latin typeface="Arial"/>
              </a:rPr>
              <a:t>Tools Used in Weather Forecasting</a:t>
            </a:r>
            <a:endParaRPr lang="en-IN" sz="3386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248162" y="1305288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 lnSpcReduction="9999"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Satellites: Monitor large-scale weather patterns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Radar: Tracks precipitation and storms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Weather balloons: Collect upper-atmosphere data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Weather stations: Measure ground-level conditions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Supercomputers: Process vast data using forecasting models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228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028" y="116115"/>
            <a:ext cx="10515600" cy="92891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       </a:t>
            </a:r>
            <a:r>
              <a:rPr lang="en-IN" sz="3800" b="1" dirty="0">
                <a:latin typeface="Arial" pitchFamily="34" charset="0"/>
                <a:cs typeface="Arial" pitchFamily="34" charset="0"/>
              </a:rPr>
              <a:t>Methodology in </a:t>
            </a:r>
            <a:r>
              <a:rPr lang="en-IN" sz="3800" b="1" dirty="0" smtClean="0">
                <a:latin typeface="Arial" pitchFamily="34" charset="0"/>
                <a:cs typeface="Arial" pitchFamily="34" charset="0"/>
              </a:rPr>
              <a:t>Forecasting Weather 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4744"/>
            <a:ext cx="10515600" cy="564605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400" b="1" dirty="0">
                <a:latin typeface="Arial" pitchFamily="34" charset="0"/>
                <a:cs typeface="Arial" pitchFamily="34" charset="0"/>
              </a:rPr>
              <a:t>1. Data Collection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Weather stations, satellites, radars, buoys, aircraft reports</a:t>
            </a:r>
          </a:p>
          <a:p>
            <a:pPr>
              <a:buFont typeface="Wingdings" pitchFamily="2" charset="2"/>
              <a:buChar char="Ø"/>
            </a:pPr>
            <a:r>
              <a:rPr lang="en-IN" sz="2400" b="1" dirty="0">
                <a:latin typeface="Arial" pitchFamily="34" charset="0"/>
                <a:cs typeface="Arial" pitchFamily="34" charset="0"/>
              </a:rPr>
              <a:t>2. Data Assimilation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Integrating observations into computer models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Cleaning + adjusting data for accuracy</a:t>
            </a:r>
          </a:p>
          <a:p>
            <a:pPr>
              <a:buFont typeface="Wingdings" pitchFamily="2" charset="2"/>
              <a:buChar char="Ø"/>
            </a:pPr>
            <a:r>
              <a:rPr lang="en-IN" sz="2400" b="1" dirty="0">
                <a:latin typeface="Arial" pitchFamily="34" charset="0"/>
                <a:cs typeface="Arial" pitchFamily="34" charset="0"/>
              </a:rPr>
              <a:t>3. Numerical Weather Prediction (NWP)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Supercomputers run atmospheric equations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Models simulate future weather patterns</a:t>
            </a:r>
          </a:p>
          <a:p>
            <a:pPr>
              <a:buFont typeface="Wingdings" pitchFamily="2" charset="2"/>
              <a:buChar char="Ø"/>
            </a:pPr>
            <a:r>
              <a:rPr lang="en-IN" sz="2400" b="1" dirty="0">
                <a:latin typeface="Arial" pitchFamily="34" charset="0"/>
                <a:cs typeface="Arial" pitchFamily="34" charset="0"/>
              </a:rPr>
              <a:t>4. Model Interpretation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Meteorologists compare multiple models</a:t>
            </a: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>Identify trends, uncertainties, and anomalies</a:t>
            </a:r>
          </a:p>
          <a:p>
            <a:pPr marL="0" indent="0"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B0E86-CCF9-453B-9228-2C798E3CFB55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87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>
                <a:solidFill>
                  <a:srgbClr val="000000"/>
                </a:solidFill>
                <a:latin typeface="Arial"/>
              </a:rPr>
              <a:t>Types of Weather Forecasts</a:t>
            </a:r>
            <a:endParaRPr lang="en-IN" sz="3386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 fontScale="85000" lnSpcReduction="19999"/>
          </a:bodyPr>
          <a:lstStyle/>
          <a:p>
            <a:pPr marL="683553" indent="-552938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800" dirty="0" smtClean="0">
                <a:solidFill>
                  <a:srgbClr val="000000"/>
                </a:solidFill>
                <a:latin typeface="Arial"/>
              </a:rPr>
              <a:t>Now casting</a:t>
            </a:r>
            <a:r>
              <a:rPr lang="en-IN" sz="2800" dirty="0">
                <a:solidFill>
                  <a:srgbClr val="000000"/>
                </a:solidFill>
                <a:latin typeface="Arial"/>
              </a:rPr>
              <a:t>: Next few hours</a:t>
            </a:r>
          </a:p>
          <a:p>
            <a:pPr marL="683553" indent="-552938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800" dirty="0">
                <a:solidFill>
                  <a:srgbClr val="000000"/>
                </a:solidFill>
                <a:latin typeface="Arial"/>
              </a:rPr>
              <a:t>Short-range: 1–3 days</a:t>
            </a:r>
          </a:p>
          <a:p>
            <a:pPr marL="683553" indent="-552938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800" dirty="0">
                <a:solidFill>
                  <a:srgbClr val="000000"/>
                </a:solidFill>
                <a:latin typeface="Arial"/>
              </a:rPr>
              <a:t>Medium-range: 4–7 days</a:t>
            </a:r>
          </a:p>
          <a:p>
            <a:pPr marL="683553" indent="-552938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800" dirty="0">
                <a:solidFill>
                  <a:srgbClr val="000000"/>
                </a:solidFill>
                <a:latin typeface="Arial"/>
              </a:rPr>
              <a:t>Long-range: Weeks to months ahead</a:t>
            </a:r>
          </a:p>
          <a:p>
            <a:pPr marL="683553" indent="-552938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800" dirty="0">
                <a:solidFill>
                  <a:srgbClr val="000000"/>
                </a:solidFill>
                <a:latin typeface="Arial"/>
              </a:rPr>
              <a:t>Seasonal forecasts: Climate trends and patterns</a:t>
            </a:r>
          </a:p>
          <a:p>
            <a:pPr marL="683553" indent="-552938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903" dirty="0">
              <a:solidFill>
                <a:srgbClr val="000000"/>
              </a:solidFill>
              <a:latin typeface="Arial"/>
            </a:endParaRPr>
          </a:p>
          <a:p>
            <a:pPr marL="522025" indent="-391410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903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138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 dirty="0">
                <a:solidFill>
                  <a:srgbClr val="000000"/>
                </a:solidFill>
                <a:latin typeface="Arial"/>
              </a:rPr>
              <a:t>Methods of Weather Forecasting</a:t>
            </a:r>
            <a:endParaRPr lang="en-IN" sz="3386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 fontScale="92500" lnSpcReduction="9999"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Persistence Forecasting: Assumes current conditions continue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Climatology: Based on long-term average conditions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Arial"/>
              </a:rPr>
              <a:t>Analog </a:t>
            </a:r>
            <a:r>
              <a:rPr lang="en-IN" sz="2400" dirty="0">
                <a:solidFill>
                  <a:srgbClr val="000000"/>
                </a:solidFill>
                <a:latin typeface="Arial"/>
              </a:rPr>
              <a:t>Method: Comparing with past weather patterns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Numerical Weather Prediction (NWP): Using mathematical models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22025" indent="-391410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341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>
                <a:solidFill>
                  <a:srgbClr val="000000"/>
                </a:solidFill>
                <a:latin typeface="Arial"/>
              </a:rPr>
              <a:t>Role of Satellites and Radar</a:t>
            </a:r>
            <a:endParaRPr lang="en-IN" sz="3386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Real-time images of cloud movement and storms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Tracking hurricanes, cyclones, and fronts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Crucial for global forecasting and disaster warnings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22025" indent="-391410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766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>
                <a:solidFill>
                  <a:srgbClr val="000000"/>
                </a:solidFill>
                <a:latin typeface="Arial"/>
              </a:rPr>
              <a:t>Importance of Weather Forecasting</a:t>
            </a:r>
            <a:endParaRPr lang="en-IN" sz="3386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Public safety: Storm warnings save lives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Agriculture: Helps farmers plan crop cycles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Transportation: Aviation and shipping depend on accurate forecasts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Event planning &amp; energy management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626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 dirty="0">
                <a:solidFill>
                  <a:srgbClr val="000000"/>
                </a:solidFill>
                <a:latin typeface="Arial"/>
              </a:rPr>
              <a:t>Challenges in Weather Forecasting</a:t>
            </a:r>
            <a:endParaRPr lang="en-IN" sz="3386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 lnSpcReduction="9999"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Sudden weather changes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Incomplete or inaccurate data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Limitations of computer models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Local factors affecting weather unpredictably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22025" indent="-391410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558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>
                <a:solidFill>
                  <a:srgbClr val="000000"/>
                </a:solidFill>
                <a:latin typeface="Arial"/>
              </a:rPr>
              <a:t>Future of Weather Forecasting</a:t>
            </a:r>
            <a:endParaRPr lang="en-IN" sz="3386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 lnSpcReduction="9999"/>
          </a:bodyPr>
          <a:lstStyle/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AI and Machine Learning in models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Improved satellite technology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High-resolution and hyperlocal forecasts</a:t>
            </a:r>
          </a:p>
          <a:p>
            <a:pPr marL="545318" indent="-414703" algn="l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Climate change and the need for better prediction systems</a:t>
            </a: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45318" indent="-414703">
              <a:spcBef>
                <a:spcPts val="1450"/>
              </a:spcBef>
              <a:spcAft>
                <a:spcPts val="1211"/>
              </a:spcAft>
              <a:buFont typeface="Wingdings" pitchFamily="2" charset="2"/>
              <a:buChar char="Ø"/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05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52423" y="216387"/>
            <a:ext cx="10884223" cy="1088901"/>
          </a:xfrm>
          <a:prstGeom prst="rect">
            <a:avLst/>
          </a:prstGeom>
          <a:noFill/>
          <a:ln w="0">
            <a:noFill/>
          </a:ln>
        </p:spPr>
        <p:txBody>
          <a:bodyPr vert="horz" lIns="0" tIns="30042" rIns="0" bIns="0" rtlCol="0" anchor="ctr">
            <a:noAutofit/>
          </a:bodyPr>
          <a:lstStyle/>
          <a:p>
            <a:pPr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3386" b="1" dirty="0">
                <a:solidFill>
                  <a:srgbClr val="000000"/>
                </a:solidFill>
                <a:latin typeface="Arial"/>
              </a:rPr>
              <a:t>Conclusion</a:t>
            </a:r>
            <a:endParaRPr lang="en-IN" sz="3386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652423" y="1523852"/>
            <a:ext cx="10884223" cy="3918912"/>
          </a:xfrm>
          <a:prstGeom prst="rect">
            <a:avLst/>
          </a:prstGeom>
          <a:noFill/>
          <a:ln w="0">
            <a:noFill/>
          </a:ln>
        </p:spPr>
        <p:txBody>
          <a:bodyPr vert="horz" lIns="0" tIns="25688" rIns="0" bIns="0" rtlCol="0" anchor="t">
            <a:normAutofit/>
          </a:bodyPr>
          <a:lstStyle/>
          <a:p>
            <a:pPr marL="522025" indent="-391410" algn="just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22025" indent="-391410" algn="just">
              <a:spcBef>
                <a:spcPts val="1450"/>
              </a:spcBef>
              <a:spcAft>
                <a:spcPts val="1211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Weather forecasting is a critical scientific process</a:t>
            </a:r>
          </a:p>
          <a:p>
            <a:pPr marL="522025" indent="-391410" algn="just">
              <a:spcBef>
                <a:spcPts val="1450"/>
              </a:spcBef>
              <a:spcAft>
                <a:spcPts val="1211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Combines observation, data analysis, and technology</a:t>
            </a:r>
          </a:p>
          <a:p>
            <a:pPr marL="522025" indent="-391410" algn="just">
              <a:spcBef>
                <a:spcPts val="1450"/>
              </a:spcBef>
              <a:spcAft>
                <a:spcPts val="1211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r>
              <a:rPr lang="en-IN" sz="2400" dirty="0">
                <a:solidFill>
                  <a:srgbClr val="000000"/>
                </a:solidFill>
                <a:latin typeface="Arial"/>
              </a:rPr>
              <a:t>Essential for safety, planning, and sustainable </a:t>
            </a:r>
            <a:r>
              <a:rPr lang="en-IN" sz="2400" dirty="0" smtClean="0">
                <a:solidFill>
                  <a:srgbClr val="000000"/>
                </a:solidFill>
                <a:latin typeface="Arial"/>
              </a:rPr>
              <a:t>living.</a:t>
            </a:r>
            <a:endParaRPr lang="en-IN" sz="2400" dirty="0">
              <a:solidFill>
                <a:srgbClr val="000000"/>
              </a:solidFill>
              <a:latin typeface="Arial"/>
            </a:endParaRPr>
          </a:p>
          <a:p>
            <a:pPr marL="522025" indent="-391410" algn="just">
              <a:spcBef>
                <a:spcPts val="1450"/>
              </a:spcBef>
              <a:spcAft>
                <a:spcPts val="1211"/>
              </a:spcAft>
              <a:tabLst>
                <a:tab pos="0" algn="l"/>
                <a:tab pos="543359" algn="l"/>
                <a:tab pos="1086718" algn="l"/>
                <a:tab pos="1630078" algn="l"/>
                <a:tab pos="2173437" algn="l"/>
                <a:tab pos="2716796" algn="l"/>
                <a:tab pos="3260155" algn="l"/>
                <a:tab pos="3803515" algn="l"/>
                <a:tab pos="4346874" algn="l"/>
                <a:tab pos="4890233" algn="l"/>
                <a:tab pos="5433592" algn="l"/>
                <a:tab pos="5976516" algn="l"/>
                <a:tab pos="6519875" algn="l"/>
                <a:tab pos="7063235" algn="l"/>
                <a:tab pos="7606594" algn="l"/>
                <a:tab pos="8149953" algn="l"/>
                <a:tab pos="8693312" algn="l"/>
                <a:tab pos="9236672" algn="l"/>
                <a:tab pos="9780031" algn="l"/>
                <a:tab pos="10323390" algn="l"/>
                <a:tab pos="10866749" algn="l"/>
                <a:tab pos="11410108" algn="l"/>
                <a:tab pos="11953468" algn="l"/>
                <a:tab pos="12496827" algn="l"/>
                <a:tab pos="13040186" algn="l"/>
              </a:tabLst>
            </a:pP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8471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2BC46-24E0-4351-B307-85EAE19D12C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14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5240" y="1268020"/>
            <a:ext cx="1216152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18486" y="283711"/>
            <a:ext cx="6755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Bibliography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15DF182-7245-44B1-BE25-2A85EB1E0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43" y="149706"/>
            <a:ext cx="1067883" cy="108068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59576CC0-7F36-4140-847E-19B41E5F84CD}"/>
              </a:ext>
            </a:extLst>
          </p:cNvPr>
          <p:cNvCxnSpPr/>
          <p:nvPr/>
        </p:nvCxnSpPr>
        <p:spPr>
          <a:xfrm>
            <a:off x="1413856" y="147385"/>
            <a:ext cx="0" cy="1044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499" y="12817"/>
            <a:ext cx="1992122" cy="5391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25" y="142529"/>
            <a:ext cx="1046245" cy="10601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96724" y="2175669"/>
            <a:ext cx="993008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Arial" panose="020B0604020202020204" pitchFamily="34" charset="0"/>
              </a:rPr>
              <a:t>1. Bi</a:t>
            </a:r>
            <a:r>
              <a:rPr lang="en-US" b="1" dirty="0">
                <a:latin typeface="Arial" panose="020B0604020202020204" pitchFamily="34" charset="0"/>
              </a:rPr>
              <a:t>, K., </a:t>
            </a:r>
            <a:r>
              <a:rPr lang="en-US" b="1" dirty="0" err="1">
                <a:latin typeface="Arial" panose="020B0604020202020204" pitchFamily="34" charset="0"/>
              </a:rPr>
              <a:t>Xie</a:t>
            </a:r>
            <a:r>
              <a:rPr lang="en-US" b="1" dirty="0">
                <a:latin typeface="Arial" panose="020B0604020202020204" pitchFamily="34" charset="0"/>
              </a:rPr>
              <a:t>, L., Zhang, H. et al.</a:t>
            </a:r>
            <a:r>
              <a:rPr lang="en-US" dirty="0">
                <a:latin typeface="Arial" panose="020B0604020202020204" pitchFamily="34" charset="0"/>
              </a:rPr>
              <a:t> “Accurate medium-range global weather forecasting with a 3D neural network.” </a:t>
            </a:r>
            <a:r>
              <a:rPr lang="en-US" i="1" dirty="0">
                <a:latin typeface="Arial" panose="020B0604020202020204" pitchFamily="34" charset="0"/>
              </a:rPr>
              <a:t>Nature</a:t>
            </a:r>
            <a:r>
              <a:rPr lang="en-US" dirty="0">
                <a:latin typeface="Arial" panose="020B0604020202020204" pitchFamily="34" charset="0"/>
              </a:rPr>
              <a:t>, 619, 533–538, 2023.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Arial" panose="020B0604020202020204" pitchFamily="34" charset="0"/>
              </a:rPr>
              <a:t>2. Lam</a:t>
            </a:r>
            <a:r>
              <a:rPr lang="en-US" b="1" dirty="0">
                <a:latin typeface="Arial" panose="020B0604020202020204" pitchFamily="34" charset="0"/>
              </a:rPr>
              <a:t>, R., </a:t>
            </a:r>
            <a:r>
              <a:rPr lang="en-US" b="1" dirty="0" err="1">
                <a:latin typeface="Arial" panose="020B0604020202020204" pitchFamily="34" charset="0"/>
              </a:rPr>
              <a:t>Mordatch</a:t>
            </a:r>
            <a:r>
              <a:rPr lang="en-US" b="1" dirty="0">
                <a:latin typeface="Arial" panose="020B0604020202020204" pitchFamily="34" charset="0"/>
              </a:rPr>
              <a:t>, E., &amp; Weber, I.</a:t>
            </a:r>
            <a:r>
              <a:rPr lang="en-US" dirty="0">
                <a:latin typeface="Arial" panose="020B0604020202020204" pitchFamily="34" charset="0"/>
              </a:rPr>
              <a:t> “Learning skillful medium-range global weather forecasting.” </a:t>
            </a:r>
            <a:r>
              <a:rPr lang="en-US" i="1" dirty="0">
                <a:latin typeface="Arial" panose="020B0604020202020204" pitchFamily="34" charset="0"/>
              </a:rPr>
              <a:t>Science</a:t>
            </a:r>
            <a:r>
              <a:rPr lang="en-US" dirty="0">
                <a:latin typeface="Arial" panose="020B0604020202020204" pitchFamily="34" charset="0"/>
              </a:rPr>
              <a:t>, 382(6677), eadi2336, 2023.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Arial" panose="020B0604020202020204" pitchFamily="34" charset="0"/>
              </a:rPr>
              <a:t>3. Price</a:t>
            </a:r>
            <a:r>
              <a:rPr lang="en-US" b="1" dirty="0">
                <a:latin typeface="Arial" panose="020B0604020202020204" pitchFamily="34" charset="0"/>
              </a:rPr>
              <a:t>, P., Rasp, M., Sanchez-Gonzalez, D. et al.</a:t>
            </a:r>
            <a:r>
              <a:rPr lang="en-US" dirty="0">
                <a:latin typeface="Arial" panose="020B0604020202020204" pitchFamily="34" charset="0"/>
              </a:rPr>
              <a:t> “Probabilistic weather forecasting with machine learning.” </a:t>
            </a:r>
            <a:r>
              <a:rPr lang="en-US" i="1" dirty="0">
                <a:latin typeface="Arial" panose="020B0604020202020204" pitchFamily="34" charset="0"/>
              </a:rPr>
              <a:t>Nature</a:t>
            </a:r>
            <a:r>
              <a:rPr lang="en-US" dirty="0">
                <a:latin typeface="Arial" panose="020B0604020202020204" pitchFamily="34" charset="0"/>
              </a:rPr>
              <a:t>, 637, 84–90, 2025.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Arial" panose="020B0604020202020204" pitchFamily="34" charset="0"/>
              </a:rPr>
              <a:t>4. </a:t>
            </a:r>
            <a:r>
              <a:rPr lang="en-US" b="1" dirty="0" err="1" smtClean="0">
                <a:latin typeface="Arial" panose="020B0604020202020204" pitchFamily="34" charset="0"/>
              </a:rPr>
              <a:t>Kochkov</a:t>
            </a:r>
            <a:r>
              <a:rPr lang="en-US" b="1" dirty="0">
                <a:latin typeface="Arial" panose="020B0604020202020204" pitchFamily="34" charset="0"/>
              </a:rPr>
              <a:t>, D., Yuval, J., </a:t>
            </a:r>
            <a:r>
              <a:rPr lang="en-US" b="1" dirty="0" err="1">
                <a:latin typeface="Arial" panose="020B0604020202020204" pitchFamily="34" charset="0"/>
              </a:rPr>
              <a:t>Langmore</a:t>
            </a:r>
            <a:r>
              <a:rPr lang="en-US" b="1" dirty="0">
                <a:latin typeface="Arial" panose="020B0604020202020204" pitchFamily="34" charset="0"/>
              </a:rPr>
              <a:t>, I. et al.</a:t>
            </a:r>
            <a:r>
              <a:rPr lang="en-US" dirty="0">
                <a:latin typeface="Arial" panose="020B0604020202020204" pitchFamily="34" charset="0"/>
              </a:rPr>
              <a:t> “Neural general circulation models for weather and climate.” </a:t>
            </a:r>
            <a:r>
              <a:rPr lang="en-US" i="1" dirty="0">
                <a:latin typeface="Arial" panose="020B0604020202020204" pitchFamily="34" charset="0"/>
              </a:rPr>
              <a:t>Nature</a:t>
            </a:r>
            <a:r>
              <a:rPr lang="en-US" dirty="0">
                <a:latin typeface="Arial" panose="020B0604020202020204" pitchFamily="34" charset="0"/>
              </a:rPr>
              <a:t>, 632, 1060–1066, 2024.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Arial" panose="020B0604020202020204" pitchFamily="34" charset="0"/>
              </a:rPr>
              <a:t>5. </a:t>
            </a:r>
            <a:r>
              <a:rPr lang="en-US" b="1" dirty="0" err="1" smtClean="0">
                <a:latin typeface="Arial" panose="020B0604020202020204" pitchFamily="34" charset="0"/>
              </a:rPr>
              <a:t>Hersbach</a:t>
            </a:r>
            <a:r>
              <a:rPr lang="en-US" b="1" dirty="0">
                <a:latin typeface="Arial" panose="020B0604020202020204" pitchFamily="34" charset="0"/>
              </a:rPr>
              <a:t>, M., Bell, E., </a:t>
            </a:r>
            <a:r>
              <a:rPr lang="en-US" b="1" dirty="0" err="1">
                <a:latin typeface="Arial" panose="020B0604020202020204" pitchFamily="34" charset="0"/>
              </a:rPr>
              <a:t>Berrisford</a:t>
            </a:r>
            <a:r>
              <a:rPr lang="en-US" b="1" dirty="0">
                <a:latin typeface="Arial" panose="020B0604020202020204" pitchFamily="34" charset="0"/>
              </a:rPr>
              <a:t>, P. et al.</a:t>
            </a:r>
            <a:r>
              <a:rPr lang="en-US" dirty="0">
                <a:latin typeface="Arial" panose="020B0604020202020204" pitchFamily="34" charset="0"/>
              </a:rPr>
              <a:t> “The ERA5 global reanalysis.” </a:t>
            </a:r>
            <a:r>
              <a:rPr lang="en-US" i="1" dirty="0">
                <a:latin typeface="Arial" panose="020B0604020202020204" pitchFamily="34" charset="0"/>
              </a:rPr>
              <a:t>Quarterly Journal of the Royal Meteorological Society</a:t>
            </a:r>
            <a:r>
              <a:rPr lang="en-US" dirty="0">
                <a:latin typeface="Arial" panose="020B0604020202020204" pitchFamily="34" charset="0"/>
              </a:rPr>
              <a:t>, 146, 1999–2049, 2020.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(Data source used in testing) </a:t>
            </a:r>
          </a:p>
        </p:txBody>
      </p:sp>
    </p:spTree>
    <p:extLst>
      <p:ext uri="{BB962C8B-B14F-4D97-AF65-F5344CB8AC3E}">
        <p14:creationId xmlns:p14="http://schemas.microsoft.com/office/powerpoint/2010/main" val="385111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429"/>
            <a:ext cx="12192000" cy="422857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5C72-C104-4EA2-B99E-4EC967DEEE5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HITA2025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1AE5-A1DE-415B-8CD1-7E08D07E9000}" type="slidenum">
              <a:rPr lang="en-US" smtClean="0"/>
              <a:t>15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5240" y="1296586"/>
            <a:ext cx="1216152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45926" y="2743200"/>
            <a:ext cx="37976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060"/>
                </a:solidFill>
              </a:rPr>
              <a:t>Thank You!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80084" y="4031224"/>
            <a:ext cx="5896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B0F0"/>
                </a:solidFill>
              </a:rPr>
              <a:t>Email_ID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 smtClean="0">
                <a:solidFill>
                  <a:srgbClr val="00B0F0"/>
                </a:solidFill>
              </a:rPr>
              <a:t>- </a:t>
            </a:r>
            <a:r>
              <a:rPr lang="en-IN" sz="2400" u="sng" dirty="0">
                <a:hlinkClick r:id="rId4"/>
              </a:rPr>
              <a:t>fajlurahaman185@gmail.com</a:t>
            </a:r>
            <a:endParaRPr lang="en-US" sz="2400" b="1" dirty="0">
              <a:solidFill>
                <a:srgbClr val="00B0F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51C25AC-0AE3-461D-958D-5D1DF228B2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43" y="149706"/>
            <a:ext cx="1067883" cy="108068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257B0671-2307-4613-8F0C-3B4EE1223D99}"/>
              </a:ext>
            </a:extLst>
          </p:cNvPr>
          <p:cNvCxnSpPr/>
          <p:nvPr/>
        </p:nvCxnSpPr>
        <p:spPr>
          <a:xfrm>
            <a:off x="1413856" y="147385"/>
            <a:ext cx="0" cy="104400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499" y="12817"/>
            <a:ext cx="1992122" cy="53911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25" y="142529"/>
            <a:ext cx="1046245" cy="106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614</Words>
  <Application>Microsoft Office PowerPoint</Application>
  <PresentationFormat>Custom</PresentationFormat>
  <Paragraphs>103</Paragraphs>
  <Slides>15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History of Weather Forecasting</vt:lpstr>
      <vt:lpstr>Elements of Weather</vt:lpstr>
      <vt:lpstr>Tools Used in Weather Forecasting</vt:lpstr>
      <vt:lpstr>        Methodology in Forecasting Weather  </vt:lpstr>
      <vt:lpstr>Types of Weather Forecasts</vt:lpstr>
      <vt:lpstr>Methods of Weather Forecasting</vt:lpstr>
      <vt:lpstr>Role of Satellites and Radar</vt:lpstr>
      <vt:lpstr>Importance of Weather Forecasting</vt:lpstr>
      <vt:lpstr>Challenges in Weather Forecasting</vt:lpstr>
      <vt:lpstr>Future of Weather Forecasting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31</cp:revision>
  <dcterms:created xsi:type="dcterms:W3CDTF">2021-06-22T06:44:54Z</dcterms:created>
  <dcterms:modified xsi:type="dcterms:W3CDTF">2025-12-04T10:37:08Z</dcterms:modified>
</cp:coreProperties>
</file>